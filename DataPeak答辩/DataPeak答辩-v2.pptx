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3" Type="http://schemas.openxmlformats.org/officeDocument/2006/relationships/image" Target="media/image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fontFamily:'Microsoft YaHei', position:'relative', background:'linear-gradient(135deg, #0B2A5B 0%, #0E4DA4 100%)' }}&gt;&#10;  &lt;Box style={{ position:'absolute', top:56, left:80 }}&gt;&#10;    &lt;Text style={{ fontSize:22, color:'#7FD8C4', letterSpacing:4 }}&gt;E-COMMERCE SALES INSIGHT DASHBOARD&lt;/Text&gt;&#10;  &lt;/Box&gt;&#10;  &lt;Box style={{ height:'720px', display:'flex', flexDirection:'column', justifyContent:'center', padding:'0 80px' }}&gt;&#10;    &lt;Text style={{ fontSize:64, color:'#FFFFFF', fontWeight:'bold' }}&gt;DataPeak · 电商销售数据洞察看板&lt;/Text&gt;&#10;    &lt;Text style={{ fontSize:26, color:'#C7E6FF', marginTop:18 }}&gt;为中小电商卖家而做：把数据结论，变成能下单的动作&lt;/Text&gt;&#10;    &lt;Box style={{ display:'flex', flexDirection:'row', gap:16, marginTop:34 }}&gt;&#10;      &lt;Box style={{ background:'rgba(255,255,255,0.14)', borderRadius:20, padding:'10px 22px' }}&gt;&lt;Text style={{ fontSize:18, color:'#FFFFFF' }}&gt;真实登录&lt;/Text&gt;&lt;/Box&gt;&#10;      &lt;Box style={{ background:'rgba(0,196,140,0.22)', borderRadius:20, padding:'10px 22px' }}&gt;&lt;Text style={{ fontSize:18, color:'#BFF3E2' }}&gt;多店铺视角&lt;/Text&gt;&lt;/Box&gt;&#10;      &lt;Box style={{ background:'rgba(255,255,255,0.14)', borderRadius:20, padding:'10px 22px' }}&gt;&lt;Text style={{ fontSize:18, color:'#FFFFFF' }}&gt;诊断 · 动作闭环&lt;/Text&gt;&lt;/Box&gt;&#10;    &lt;/Box&gt;&#10;  &lt;/Box&gt;&#10;  &lt;Box style={{ position:'absolute', bottom:48, left:80, display:'flex', flexDirection:'row', gap:40 }}&gt;&#10;    &lt;Box&gt;&lt;Text style={{ fontSize:14, color:'#9FB8E0' }}&gt;课程&lt;/Text&gt;&lt;Text style={{ fontSize:18, color:'#FFFFFF', fontWeight:'bold', marginTop:4 }}&gt;Web 应用开发课程设计&lt;/Text&gt;&lt;/Box&gt;&#10;    &lt;Box&gt;&lt;Text style={{ fontSize:14, color:'#9FB8E0' }}&gt;汇报人&lt;/Text&gt;&lt;Text style={{ fontSize:18, color:'#FFFFFF', fontWeight:'bold', marginTop:4 }}&gt;DataPeak 团队&lt;/Text&gt;&lt;/Box&gt;&#10;    &lt;Box&gt;&lt;Text style={{ fontSize:14, color:'#9FB8E0' }}&gt;日期&lt;/Text&gt;&lt;Text style={{ fontSize:18, color:'#FFFFFF', fontWeight:'bold', marginTop:4 }}&gt;2026.10&lt;/Text&gt;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5B"/>
              </a:gs>
              <a:gs pos="100000">
                <a:srgbClr val="0E4DA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762000" y="2466975"/>
            <a:ext cx="10668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DataPeak ·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电商销售数据洞察看板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3371850"/>
            <a:ext cx="10668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C7E6FF"/>
                </a:solidFill>
                <a:latin typeface="Microsoft YaHei"/>
                <a:ea typeface="Microsoft YaHei"/>
              </a:rPr>
              <a:t>为中小电商卖家而做：把数据结论，变成能下单的动作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762000" y="4000500"/>
            <a:ext cx="1104900" cy="400050"/>
          </a:xfrm>
          <a:prstGeom prst="roundRect">
            <a:avLst>
              <a:gd name="adj" fmla="val 47619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71550" y="40957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真实登录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2019300" y="4000500"/>
            <a:ext cx="1276350" cy="400050"/>
          </a:xfrm>
          <a:prstGeom prst="roundRect">
            <a:avLst>
              <a:gd name="adj" fmla="val 47619"/>
            </a:avLst>
          </a:prstGeom>
          <a:solidFill>
            <a:srgbClr val="00C48C">
              <a:alpha val="22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2228850" y="40957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FF3E2"/>
                </a:solidFill>
                <a:latin typeface="Microsoft YaHei"/>
                <a:ea typeface="Microsoft YaHei"/>
              </a:rPr>
              <a:t>多店铺视角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3448050" y="4000500"/>
            <a:ext cx="1590675" cy="400050"/>
          </a:xfrm>
          <a:prstGeom prst="roundRect">
            <a:avLst>
              <a:gd name="adj" fmla="val 47619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657600" y="4095750"/>
            <a:ext cx="1171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诊断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动作闭环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33400"/>
            <a:ext cx="5724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300">
                <a:solidFill>
                  <a:srgbClr val="7FD8C4"/>
                </a:solidFill>
                <a:latin typeface="Microsoft YaHei"/>
                <a:ea typeface="Microsoft YaHei"/>
              </a:rPr>
              <a:t>E-COMMERCE SALES INSIGHT DASHBOARD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5991225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8E0"/>
                </a:solidFill>
                <a:latin typeface="Microsoft YaHei"/>
                <a:ea typeface="Microsoft YaHei"/>
              </a:rPr>
              <a:t>课程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6191250"/>
            <a:ext cx="1819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Web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应用开发课程设计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962275" y="5991225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8E0"/>
                </a:solidFill>
                <a:latin typeface="Microsoft YaHei"/>
                <a:ea typeface="Microsoft YaHei"/>
              </a:rPr>
              <a:t>汇报人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962275" y="6191250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DataPeak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团队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52950" y="5991225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8E0"/>
                </a:solidFill>
                <a:latin typeface="Microsoft YaHei"/>
                <a:ea typeface="Microsoft YaHei"/>
              </a:rPr>
              <a:t>日期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52950" y="61912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2026.10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1" name="" descr="&lt;Slide style={{ width:'1280px', height:'720px', fontFamily:'Microsoft YaHei', background:'#FFFFFF', display:'flex', flexDirection:'row' }}&gt;&#10;  &lt;Box style={{ width:'400px', height:'720px', background:'linear-gradient(135deg, #0B2A5B 0%, #0E4DA4 100%)', display:'flex', flexDirection:'column', justifyContent:'center', padding:'0 44px' }}&gt;&#10;    &lt;Text style={{ fontSize:20, color:'#7FD8C4', letterSpacing:6 }}&gt;CONTENTS&lt;/Text&gt;&#10;    &lt;Text style={{ fontSize:46, color:'#FFFFFF', fontWeight:'bold', marginTop:12 }}&gt;目录&lt;/Text&gt;&#10;    &lt;Box style={{ width:'60px', height:'4px', background:'#00C48C', marginTop:20 }} /&gt;&#10;    &lt;Text style={{ fontSize:15, color:'#A9C4E8', marginTop:26, lineHeight:1.7 }}&gt;从真实的人与真实&lt;br/&gt;的痛点出发，落到&lt;br/&gt;能执行的动作。&lt;/Text&gt;&#10;  &lt;/Box&gt;&#10;  &lt;Box style={{ flex:1, height:'720px', display:'flex', flexDirection:'column', justifyContent:'center', padding:'0 64px', gap:26 }}&gt;&#10;    {[['01','为谁做，痛在哪','真实人群 + 被数据戳中的真痛点'],['02','针对他们做了什么','功能 × 人物 × 动作'],['03','怎么帮到 · 诚实标注','完整场景 + 学术诚信']].map((it,i)=&gt;(&#10;      &lt;Box key={i} style={{ display:'flex', flexDirection:'row', alignItems:'center', gap:24 }}&gt;&#10;        &lt;Text style={{ fontSize:42, color:'#0E4DA4', fontWeight:'bold' }}&gt;{it[0]}&lt;/Text&gt;&#10;        &lt;Box style={{ width:'1px', height:'46px', background:'#D6DCE5' }} /&gt;&#10;        &lt;Box&gt;&lt;Text style={{ fontSize:26, color:'#1A2230', fontWeight:'bold' }}&gt;{it[1]}&lt;/Text&gt;&lt;Text style={{ fontSize:17, color:'#8B97A8', marginTop:4 }}&gt;{it[2]}&lt;/Text&gt;&lt;/Box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0" y="0"/>
            <a:ext cx="3810000" cy="6858000"/>
          </a:xfrm>
          <a:prstGeom prst="rect">
            <a:avLst/>
          </a:prstGeom>
          <a:gradFill>
            <a:gsLst>
              <a:gs pos="0">
                <a:srgbClr val="0B2A5B"/>
              </a:gs>
              <a:gs pos="100000">
                <a:srgbClr val="0E4DA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19100" y="2314575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7FD8C4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19100" y="2657475"/>
            <a:ext cx="2971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419100" y="3381375"/>
            <a:ext cx="571500" cy="38100"/>
          </a:xfrm>
          <a:prstGeom prst="rect">
            <a:avLst/>
          </a:prstGeom>
          <a:solidFill>
            <a:srgbClr val="00C48C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19100" y="3667125"/>
            <a:ext cx="29718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A9C4E8"/>
                </a:solidFill>
                <a:latin typeface="Microsoft YaHei"/>
                <a:ea typeface="Microsoft YaHei"/>
              </a:rPr>
              <a:t>从真实的人与真实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A9C4E8"/>
                </a:solidFill>
                <a:latin typeface="Microsoft YaHei"/>
                <a:ea typeface="Microsoft YaHei"/>
              </a:rPr>
              <a:t>的痛点出发，落到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A9C4E8"/>
                </a:solidFill>
                <a:latin typeface="Microsoft YaHei"/>
                <a:ea typeface="Microsoft YaHei"/>
              </a:rPr>
              <a:t>能执行的动作。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419600" y="2400300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0E4DA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5143500" y="2428875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381625" y="2371725"/>
            <a:ext cx="2324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为谁做，痛在哪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381625" y="271462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真实人群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被数据戳中的真痛点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419600" y="3190875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0E4DA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143500" y="3219450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381625" y="3162300"/>
            <a:ext cx="198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针对他们做了什么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381625" y="3505200"/>
            <a:ext cx="198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功能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人物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动作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419600" y="3981450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0E4DA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143500" y="4010025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381625" y="3952875"/>
            <a:ext cx="2238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怎么帮到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诚实标注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381625" y="429577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完整场景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学术诚信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80" name="" descr="&lt;Slide style={{ width:'1280px', height:'720px', fontFamily:'Microsoft YaHei', background:'#FFFFFF', padding:'44px 56px', display:'flex', flexDirection:'column' }}&gt;&#10;  &lt;Text style={{ fontSize:34, color:'#0B2A5B', fontWeight:'bold' }}&gt;老师的四点意见，我们这样回应&lt;/Text&gt;&#10;  &lt;Box style={{ width:'100%', height:'2px', background:'#D6DCE5', marginTop:14, marginBottom:18 }} /&gt;&#10;  &lt;Box style={{ flex:1, display:'flex', flexDirection:'column' }}&gt;&#10;    &lt;Table style={{ width:'100%', height:'100%' }}&#10;      defaultTextStyle={{ fontSize:18, color:'#1A2230', textAlign:'left' }}&#10;      defaultCellStyle={{ border:{ left:{width:1,color:'#E5E7EB'}, right:{width:1,color:'#E5E7EB'}, top:{width:1,color:'#E5E7EB'}, bottom:{width:1,color:'#E5E7EB'} } }}&#10;      cells={[&#10;        [&#10;          { text:'老师的意见', textStyle:{ bold:true, color:'#FFFFFF', fontSize:19 }, cellStyle:{ background:{ color:'#0B2A5B' } } },&#10;          { text:'我们的改法', textStyle:{ bold:true, color:'#FFFFFF', fontSize:19 }, cellStyle:{ background:{ color:'#0B2A5B' } } },&#10;        ],&#10;        [ '图表太多', { text:'砍到 6 张&quot;问题式&quot;图表，每张回答一个决策问题，不堆装饰', cellStyle:{ background:{ color:'#F2F7FF' } } } ],&#10;        [ '没针对具体人群', '以林姐 / 小吴 / 陈总三个真实人物为叙事主线；看板新增三角色视角' ],&#10;        [ '没真实抓住痛点', '用 Olist 真实指标佐证：延迟 8.8%、酷玩 −41.9%、健康美容 +37.8%' ],&#10;        [ '没实质性帮助', { text:'每个功能接到一个角色 + 一个动作；首页&quot;今日行动清单&quot;给 3 条可执行动作', cellStyle:{ background:{ color:'#EAF7F1' } } } ],&#10;      ]}&#10;   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老师的四点意见，我们这样回应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33400" y="942975"/>
            <a:ext cx="111252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graphicFrame>
        <p:nvGraphicFramePr>
          <p:cNvPr id="84" name=""/>
          <p:cNvGraphicFramePr/>
          <p:nvPr/>
        </p:nvGraphicFramePr>
        <p:xfrm rot="0" flipH="0" flipV="0">
          <a:off x="533400" y="1133475"/>
          <a:ext cx="11125200" cy="5305425"/>
        </p:xfrm>
        <a:graphic>
          <a:graphicData uri="http://schemas.openxmlformats.org/drawingml/2006/table">
            <a:tbl>
              <a:tblGrid>
                <a:gridCol w="2021679">
                  <a:extLst>
                    <a:ext uri="{9D8B030D-6E8A-4147-A177-3AD203B41FA5}">
                      <a16:colId val="1"/>
                    </a:ext>
                  </a:extLst>
                </a:gridCol>
                <a:gridCol w="9103521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110824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老师的意见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我们的改法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04929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图表太多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砍到 6 张"问题式"图表，每张回答一个决策问题，不堆装饰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7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04929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没针对具体人群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以林姐 / 小吴 / 陈总三个真实人物为叙事主线；看板新增三角色视角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04929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没真实抓住痛点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用 Olist 真实指标佐证：延迟 8.8%、酷玩 −41.9%、健康美容 +37.8%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104929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没实质性帮助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每个功能接到一个角色 + 一个动作；首页"今日行动清单"给 3 条可执行动作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5" name="" descr="&lt;Slide style={{ width:'1280px', height:'720px', fontFamily:'Microsoft YaHei', background:'#F2F7FF', display:'flex', flexDirection:'row' }}&gt;&#10;  &lt;Box style={{ width:'460px', height:'720px', background:'linear-gradient(135deg, #0B2A5B 0%, #0E4DA4 100%)', display:'flex', flexDirection:'column', justifyContent:'center', alignItems:'flex-end', padding:'0 56px' }}&gt;&#10;    &lt;Text style={{ fontSize:180, color:'#1E6FFF', fontWeight:'bold' }}&gt;01&lt;/Text&gt;&#10;  &lt;/Box&gt;&#10;  &lt;Box style={{ flex:1, height:'720px', display:'flex', flexDirection:'column', justifyContent:'center', padding:'0 64px' }}&gt;&#10;    &lt;Text style={{ fontSize:20, color:'#0E4DA4', letterSpacing:4 }}&gt;CHAPTER 01&lt;/Text&gt;&#10;    &lt;Text style={{ fontSize:44, color:'#0B2A5B', fontWeight:'bold', marginTop:14 }}&gt;为谁做，痛在哪&lt;/Text&gt;&#10;    &lt;Box style={{ width:'80px', height:'4px', background:'#00C48C', marginTop:22, marginBottom:22 }} /&gt;&#10;    &lt;Text style={{ fontSize:23, color:'#4A5568', lineHeight:1.8 }}&gt;不堆图表，先看清&lt;span style={{ color:'#0B2A5B', fontWeight:'bold' }}&gt;真实的人&lt;/span&gt;和&lt;span style={{ color:'#0B2A5B', fontWeight:'bold' }}&gt;真实的难&lt;/span&gt;。&lt;br/&gt;调研显示：卖家不缺图表，缺的是&quot;结论→动作&quot;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7F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0B2A5B"/>
              </a:gs>
              <a:gs pos="100000">
                <a:srgbClr val="0E4DA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72402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6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991100" y="2295525"/>
            <a:ext cx="659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0E4DA4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991100" y="2657475"/>
            <a:ext cx="6591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B2A5B"/>
                </a:solidFill>
                <a:latin typeface="Microsoft YaHei"/>
                <a:ea typeface="Microsoft YaHei"/>
              </a:rPr>
              <a:t>为谁做，痛在哪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991100" y="3371850"/>
            <a:ext cx="762000" cy="38100"/>
          </a:xfrm>
          <a:prstGeom prst="rect">
            <a:avLst/>
          </a:prstGeom>
          <a:solidFill>
            <a:srgbClr val="00C48C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991100" y="3619500"/>
            <a:ext cx="6591300" cy="9525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不堆图表，先看清</a:t>
            </a:r>
            <a:r>
              <a:rPr lang="zh-CN" sz="1725" b="1">
                <a:solidFill>
                  <a:srgbClr val="0B2A5B"/>
                </a:solidFill>
                <a:latin typeface="Microsoft YaHei"/>
                <a:ea typeface="Microsoft YaHei"/>
              </a:rPr>
              <a:t>真实的人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和</a:t>
            </a:r>
            <a:r>
              <a:rPr lang="zh-CN" sz="1725" b="1">
                <a:solidFill>
                  <a:srgbClr val="0B2A5B"/>
                </a:solidFill>
                <a:latin typeface="Microsoft YaHei"/>
                <a:ea typeface="Microsoft YaHei"/>
              </a:rPr>
              <a:t>真实的难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调研显示：卖家不缺图表，缺的是</a:t>
            </a:r>
            <a:r>
              <a:rPr lang="en-US" sz="17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结论→动作</a:t>
            </a:r>
            <a:r>
              <a:rPr lang="en-US" sz="17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3" name="" descr="&lt;Slide style={{ width:'1280px', height:'720px', fontFamily:'Microsoft YaHei', background:'#FFFFFF', padding:'44px 48px', display:'flex', flexDirection:'column' }}&gt;&#10;  &lt;Text style={{ fontSize:34, color:'#0B2A5B', fontWeight:'bold' }}&gt;三个真实用户，三个被数据戳中的痛点&lt;/Text&gt;&#10;  &lt;Text style={{ fontSize:19, color:'#8B97A8', marginTop:8 }}&gt;用户不是&quot;抽象的中小卖家&quot;，是这三个具体的人（画像为卖家视角切片示例）&lt;/Text&gt;&#10;  &lt;Box style={{ width:'100%', height:'2px', background:'#D6DCE5', marginTop:14, marginBottom:22 }} /&gt;&#10;  &lt;Box style={{ flex:1, display:'flex', flexDirection:'row', gap:22 }}&gt;&#10;    {[&#10;      ['store','林姐 · 女装店主','35 岁，不懂数据', '选品靠感觉、服装退货高易压货，最怕&quot;压错款 → 现金流断&quot;', '酷玩 −41.9% → 系统建议停补并清仓', '#0E4DA4'],&#10;      ['layer-group','小吴 · 代运营','23 岁，管 5 家店', '5 店数据分散、口径不一，老板问&quot;为啥跌&quot;答不上', '复购率仅 1.8% → 建议加强老客召回', '#00A878'],&#10;      ['coins','陈总 · 经销商','45 岁，怕压错品类', 'ERP 报表滞后一周，怕压错品类占死现金流', '健康美容 +37.8% → 预算转给增长品类', '#0E4DA4'],&#10;    ].map((p,i)=&gt;(&#10;      &lt;Box key={i} style={{ flex:1, background:'#F2F7FF', borderRadius:16, padding:'24px 22px', display:'flex', flexDirection:'column', border:'1px solid #E1EAF6' }}&gt;&#10;        &lt;Box style={{ display:'flex', flexDirection:'row', alignItems:'center', gap:14 }}&gt;&#10;          &lt;Box style={{ width:54, height:54, borderRadius:27, background:'#FFFFFF', display:'flex', alignItems:'center', justifyContent:'center', boxShadow:'0 2px 8px rgba(11,42,91,0.12)' }}&gt;&#10;            &lt;FAIcon name={p[0]} style={{ fill:p[5], width:28, height:28 }} /&gt;&#10;          &lt;/Box&gt;&#10;          &lt;Box&gt;&#10;            &lt;Text style={{ fontSize:22, color:'#0B2A5B', fontWeight:'bold' }}&gt;{p[1]}&lt;/Text&gt;&#10;            &lt;Text style={{ fontSize:15, color:'#8B97A8', marginTop:2 }}&gt;{p[2]}&lt;/Text&gt;&#10;          &lt;/Box&gt;&#10;        &lt;/Box&gt;&#10;        &lt;Text style={{ fontSize:18, color:'#1A2230', marginTop:18, lineHeight:1.6 }}&gt;{p[3]}&lt;/Text&gt;&#10;        &lt;Box style={{ marginTop:'auto', background:'#0B2A5B', borderRadius:10, padding:'14px 16px' }}&gt;&#10;          &lt;Text style={{ fontSize:17, color:'#8BE0CC', fontWeight:'bold', lineHeight:1.5 }}&gt;{p[4]}&lt;/Text&gt;&#10;        &lt;/Box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57200" y="419100"/>
            <a:ext cx="1127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三个真实用户，三个被数据戳中的痛点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57200" y="885825"/>
            <a:ext cx="1127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用户不是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抽象的中小卖家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，是这三个具体的人（画像为卖家视角切片示例）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57200" y="1238250"/>
            <a:ext cx="112776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457200" y="1466850"/>
            <a:ext cx="3619500" cy="4972050"/>
          </a:xfrm>
          <a:prstGeom prst="roundRect">
            <a:avLst>
              <a:gd name="adj" fmla="val 4211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66750" y="16954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76200" dist="19050" dir="5400000">
              <a:srgbClr val="0B2A5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819275"/>
            <a:ext cx="266700" cy="26670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314450" y="1733550"/>
            <a:ext cx="1476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林姐</a:t>
            </a:r>
            <a:r>
              <a:rPr lang="en-US" sz="165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女装店主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314450" y="2009775"/>
            <a:ext cx="147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35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岁，不懂数据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66750" y="2381250"/>
            <a:ext cx="3200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选品靠感觉、服装退货高易压货，最怕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压错款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现金流断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66750" y="5648325"/>
            <a:ext cx="3200400" cy="561975"/>
          </a:xfrm>
          <a:prstGeom prst="roundRect">
            <a:avLst>
              <a:gd name="adj" fmla="val 16949"/>
            </a:avLst>
          </a:prstGeom>
          <a:solidFill>
            <a:srgbClr val="0B2A5B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19150" y="5781675"/>
            <a:ext cx="28956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8BE0CC"/>
                </a:solidFill>
                <a:latin typeface="Microsoft YaHei"/>
                <a:ea typeface="Microsoft YaHei"/>
              </a:rPr>
              <a:t>酷玩</a:t>
            </a:r>
            <a:r>
              <a:rPr lang="en-US" sz="1275" b="1">
                <a:solidFill>
                  <a:srgbClr val="8BE0CC"/>
                </a:solidFill>
                <a:latin typeface="Microsoft YaHei"/>
                <a:ea typeface="Microsoft YaHei"/>
              </a:rPr>
              <a:t xml:space="preserve"> −41.9% → </a:t>
            </a:r>
            <a:r>
              <a:rPr lang="zh-CN" sz="1275" b="1">
                <a:solidFill>
                  <a:srgbClr val="8BE0CC"/>
                </a:solidFill>
                <a:latin typeface="Microsoft YaHei"/>
                <a:ea typeface="Microsoft YaHei"/>
              </a:rPr>
              <a:t>系统建议停补并清仓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286250" y="1466850"/>
            <a:ext cx="3619500" cy="4972050"/>
          </a:xfrm>
          <a:prstGeom prst="roundRect">
            <a:avLst>
              <a:gd name="adj" fmla="val 4211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4495800" y="16954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76200" dist="19050" dir="5400000">
              <a:srgbClr val="0B2A5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19625" y="1819275"/>
            <a:ext cx="266700" cy="266700"/>
          </a:xfrm>
          <a:prstGeom prst="rect">
            <a:avLst/>
          </a:prstGeom>
          <a:ln/>
        </p:spPr>
      </p:pic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143500" y="1733550"/>
            <a:ext cx="126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小吴</a:t>
            </a:r>
            <a:r>
              <a:rPr lang="en-US" sz="165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代运营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143500" y="2009775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23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岁，管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家店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495800" y="2381250"/>
            <a:ext cx="3200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店数据分散、口径不一，老板问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为啥跌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答不上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4495800" y="5648325"/>
            <a:ext cx="3200400" cy="561975"/>
          </a:xfrm>
          <a:prstGeom prst="roundRect">
            <a:avLst>
              <a:gd name="adj" fmla="val 16949"/>
            </a:avLst>
          </a:prstGeom>
          <a:solidFill>
            <a:srgbClr val="0B2A5B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648200" y="5781675"/>
            <a:ext cx="28956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8BE0CC"/>
                </a:solidFill>
                <a:latin typeface="Microsoft YaHei"/>
                <a:ea typeface="Microsoft YaHei"/>
              </a:rPr>
              <a:t>复购率仅</a:t>
            </a:r>
            <a:r>
              <a:rPr lang="en-US" sz="1275" b="1">
                <a:solidFill>
                  <a:srgbClr val="8BE0CC"/>
                </a:solidFill>
                <a:latin typeface="Microsoft YaHei"/>
                <a:ea typeface="Microsoft YaHei"/>
              </a:rPr>
              <a:t xml:space="preserve"> 1.8% → </a:t>
            </a:r>
            <a:r>
              <a:rPr lang="zh-CN" sz="1275" b="1">
                <a:solidFill>
                  <a:srgbClr val="8BE0CC"/>
                </a:solidFill>
                <a:latin typeface="Microsoft YaHei"/>
                <a:ea typeface="Microsoft YaHei"/>
              </a:rPr>
              <a:t>建议加强老客召回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115300" y="1466850"/>
            <a:ext cx="3619500" cy="4972050"/>
          </a:xfrm>
          <a:prstGeom prst="roundRect">
            <a:avLst>
              <a:gd name="adj" fmla="val 4211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8324850" y="16954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76200" dist="19050" dir="5400000">
              <a:srgbClr val="0B2A5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48675" y="1819275"/>
            <a:ext cx="266700" cy="266700"/>
          </a:xfrm>
          <a:prstGeom prst="rect">
            <a:avLst/>
          </a:prstGeom>
          <a:ln/>
        </p:spPr>
      </p:pic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972550" y="1733550"/>
            <a:ext cx="126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陈总</a:t>
            </a:r>
            <a:r>
              <a:rPr lang="en-US" sz="165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经销商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972550" y="2009775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45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岁，怕压错品类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324850" y="2381250"/>
            <a:ext cx="3200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ERP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报表滞后一周，怕压错品类占死现金流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324850" y="5648325"/>
            <a:ext cx="3200400" cy="561975"/>
          </a:xfrm>
          <a:prstGeom prst="roundRect">
            <a:avLst>
              <a:gd name="adj" fmla="val 16949"/>
            </a:avLst>
          </a:prstGeom>
          <a:solidFill>
            <a:srgbClr val="0B2A5B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477250" y="5781675"/>
            <a:ext cx="28956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8BE0CC"/>
                </a:solidFill>
                <a:latin typeface="Microsoft YaHei"/>
                <a:ea typeface="Microsoft YaHei"/>
              </a:rPr>
              <a:t>健康美容</a:t>
            </a:r>
            <a:r>
              <a:rPr lang="en-US" sz="1275" b="1">
                <a:solidFill>
                  <a:srgbClr val="8BE0CC"/>
                </a:solidFill>
                <a:latin typeface="Microsoft YaHei"/>
                <a:ea typeface="Microsoft YaHei"/>
              </a:rPr>
              <a:t xml:space="preserve"> +37.8% → </a:t>
            </a:r>
            <a:r>
              <a:rPr lang="zh-CN" sz="1275" b="1">
                <a:solidFill>
                  <a:srgbClr val="8BE0CC"/>
                </a:solidFill>
                <a:latin typeface="Microsoft YaHei"/>
                <a:ea typeface="Microsoft YaHei"/>
              </a:rPr>
              <a:t>预算转给增长品类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22" name="" descr="&lt;Slide style={{ width:'1280px', height:'720px', fontFamily:'Microsoft YaHei', background:'#F2F7FF', display:'flex', flexDirection:'row' }}&gt;&#10;  &lt;Box style={{ width:'460px', height:'720px', background:'linear-gradient(135deg, #0B2A5B 0%, #0E4DA4 100%)', display:'flex', flexDirection:'column', justifyContent:'center', alignItems:'flex-end', padding:'0 56px' }}&gt;&#10;    &lt;Text style={{ fontSize:180, color:'#1E6FFF', fontWeight:'bold' }}&gt;02&lt;/Text&gt;&#10;  &lt;/Box&gt;&#10;  &lt;Box style={{ flex:1, height:'720px', display:'flex', flexDirection:'column', justifyContent:'center', padding:'0 64px' }}&gt;&#10;    &lt;Text style={{ fontSize:20, color:'#0E4DA4', letterSpacing:4 }}&gt;CHAPTER 02&lt;/Text&gt;&#10;    &lt;Text style={{ fontSize:44, color:'#0B2A5B', fontWeight:'bold', marginTop:14 }}&gt;针对他们，我们做了什么&lt;/Text&gt;&#10;    &lt;Box style={{ width:'80px', height:'4px', background:'#00C48C', marginTop:22, marginBottom:22 }} /&gt;&#10;    &lt;Text style={{ fontSize:23, color:'#4A5568', lineHeight:1.8 }}&gt;每个功能都接到一个&lt;span style={{ color:'#0B2A5B', fontWeight:'bold' }}&gt;角色 + 一个动作&lt;/span&gt;，&lt;br/&gt;而不是一个孤立的图表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7FF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0B2A5B"/>
              </a:gs>
              <a:gs pos="100000">
                <a:srgbClr val="0E4DA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72402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6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991100" y="2295525"/>
            <a:ext cx="659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0E4DA4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991100" y="2657475"/>
            <a:ext cx="6591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B2A5B"/>
                </a:solidFill>
                <a:latin typeface="Microsoft YaHei"/>
                <a:ea typeface="Microsoft YaHei"/>
              </a:rPr>
              <a:t>针对他们，我们做了什么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991100" y="3371850"/>
            <a:ext cx="762000" cy="38100"/>
          </a:xfrm>
          <a:prstGeom prst="rect">
            <a:avLst/>
          </a:prstGeom>
          <a:solidFill>
            <a:srgbClr val="00C48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991100" y="3619500"/>
            <a:ext cx="6591300" cy="9525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每个功能都接到一个</a:t>
            </a:r>
            <a:r>
              <a:rPr lang="zh-CN" sz="1725" b="1">
                <a:solidFill>
                  <a:srgbClr val="0B2A5B"/>
                </a:solidFill>
                <a:latin typeface="Microsoft YaHei"/>
                <a:ea typeface="Microsoft YaHei"/>
              </a:rPr>
              <a:t>角色</a:t>
            </a:r>
            <a:r>
              <a:rPr lang="en-US" sz="1725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725" b="1">
                <a:solidFill>
                  <a:srgbClr val="0B2A5B"/>
                </a:solidFill>
                <a:latin typeface="Microsoft YaHei"/>
                <a:ea typeface="Microsoft YaHei"/>
              </a:rPr>
              <a:t>一个动作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而不是一个孤立的图表。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0" name="" descr="&lt;Slide style={{ width:'1280px', height:'720px', fontFamily:'Microsoft YaHei', background:'#FFFFFF', padding:'44px 48px', display:'flex', flexDirection:'column' }}&gt;&#10;  &lt;Text style={{ fontSize:34, color:'#0B2A5B', fontWeight:'bold' }}&gt;痛点 → 功能 → 动作（每个功能都变成对某个人有用的动作）&lt;/Text&gt;&#10;  &lt;Box style={{ width:'100%', height:'2px', background:'#D6DCE5', marginTop:14, marginBottom:16 }} /&gt;&#10;  &lt;Box style={{ flex:1 }}&gt;&#10;    &lt;Table style={{ width:'100%', height:'100%' }}&#10;      defaultTextStyle={{ fontSize:17, color:'#1A2230', textAlign:'left' }}&#10;      defaultCellStyle={{ border:{ left:{width:1,color:'#E5E7EB'}, right:{width:1,color:'#E5E7EB'}, top:{width:1,color:'#E5E7EB'}, bottom:{width:1,color:'#E5E7EB'} }, padding:'10px 12px' }}&#10;      cells={[&#10;        [&#10;          { text:'真实痛点', textStyle:{ bold:true, color:'#FFFFFF' }, cellStyle:{ background:{ color:'#0B2A5B' } } },&#10;          { text:'对应功能', textStyle:{ bold:true, color:'#FFFFFF' }, cellStyle:{ background:{ color:'#0B2A5B' } } },&#10;          { text:'给该角色的具体动作', textStyle:{ bold:true, color:'#FFFFFF' }, cellStyle:{ background:{ color:'#0B2A5B' } } },&#10;          { text:'受益角色', textStyle:{ bold:true, color:'#FFFFFF' }, cellStyle:{ background:{ color:'#0B2A5B' } } },&#10;        ],&#10;        [ '选品 / 找利润品难', '品类排行 / 增长案例', '本周主推健康美容，停补下跌品类', '林姐' ],&#10;        [ '库存积压 / 现金流', '补货信号 + 异常预警', '当周下调酷玩进货、转预算给增长品类', '陈总' ],&#10;        [ '广告 ROI / 流量焦虑', '经营诊断（环比 + 品类贡献）', '把广告预算从低效品类挪到高增长品类', '小吴' ],&#10;        [ '退货与差评', '诊断（平均评分）监测', '评分跌破阈值即查详情页与质量', '林姐' ],&#10;        [ '多店管理', '卖家视角切换', '逐店看独立诊断，免跨平台手工拼表', '小吴' ],&#10;        [ '数据分析门槛 / 无动作', '诊断结论文案 + 术语气泡 + 预警', '看一句话结论即可决策，不必懂术语', '林姐 / 陈总' ],&#10;      ]}&#10;   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57200" y="419100"/>
            <a:ext cx="1127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痛点</a:t>
            </a:r>
            <a:r>
              <a:rPr lang="en-US" sz="255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功能</a:t>
            </a:r>
            <a:r>
              <a:rPr lang="en-US" sz="255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动作（每个功能都变成对某个人有用的动作）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57200" y="942975"/>
            <a:ext cx="112776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graphicFrame>
        <p:nvGraphicFramePr>
          <p:cNvPr id="134" name=""/>
          <p:cNvGraphicFramePr/>
          <p:nvPr/>
        </p:nvGraphicFramePr>
        <p:xfrm rot="0" flipH="0" flipV="0">
          <a:off x="457200" y="1114425"/>
          <a:ext cx="11277600" cy="5324475"/>
        </p:xfrm>
        <a:graphic>
          <a:graphicData uri="http://schemas.openxmlformats.org/drawingml/2006/table">
            <a:tbl>
              <a:tblGrid>
                <a:gridCol w="2440957">
                  <a:extLst>
                    <a:ext uri="{9D8B030D-6E8A-4147-A177-3AD203B41FA5}">
                      <a16:colId val="1"/>
                    </a:ext>
                  </a:extLst>
                </a:gridCol>
                <a:gridCol w="3508707">
                  <a:extLst>
                    <a:ext uri="{9D8B030D-6E8A-4147-A177-3AD203B41FA5}">
                      <a16:colId val="2"/>
                    </a:ext>
                  </a:extLst>
                </a:gridCol>
                <a:gridCol w="4035824">
                  <a:extLst>
                    <a:ext uri="{9D8B030D-6E8A-4147-A177-3AD203B41FA5}">
                      <a16:colId val="3"/>
                    </a:ext>
                  </a:extLst>
                </a:gridCol>
                <a:gridCol w="1292112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7606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真实痛点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对应功能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给该角色的具体动作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受益角色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606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选品 / 找利润品难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品类排行 / 增长案例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本周主推健康美容，停补下跌品类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林姐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606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库存积压 / 现金流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补货信号 + 异常预警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当周下调酷玩进货、转预算给增长品类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陈总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606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广告 ROI / 流量焦虑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经营诊断（环比 + 品类贡献）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把广告预算从低效品类挪到高增长品类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小吴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606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退货与差评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诊断（平均评分）监测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评分跌破阈值即查详情页与质量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林姐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606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多店管理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卖家视角切换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逐店看独立诊断，免跨平台手工拼表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小吴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7606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数据分析门槛 / 无动作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诊断结论文案 + 术语气泡 + 预警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看一句话结论即可决策，不必懂术语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林姐 / 陈总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style={{ width:'1280px', height:'720px', fontFamily:'Microsoft YaHei', background:'#F2F7FF', display:'flex', flexDirection:'row' }}&gt;&#10;  &lt;Box style={{ width:'460px', height:'720px', background:'linear-gradient(135deg, #0B2A5B 0%, #0E4DA4 100%)', display:'flex', flexDirection:'column', justifyContent:'center', alignItems:'flex-end', padding:'0 56px' }}&gt;&#10;    &lt;Text style={{ fontSize:180, color:'#1E6FFF', fontWeight:'bold' }}&gt;03&lt;/Text&gt;&#10;  &lt;/Box&gt;&#10;  &lt;Box style={{ flex:1, height:'720px', display:'flex', flexDirection:'column', justifyContent:'center', padding:'0 64px' }}&gt;&#10;    &lt;Text style={{ fontSize:20, color:'#0E4DA4', letterSpacing:4 }}&gt;CHAPTER 03&lt;/Text&gt;&#10;    &lt;Text style={{ fontSize:44, color:'#0B2A5B', fontWeight:'bold', marginTop:14 }}&gt;怎么帮到 · 诚实标注&lt;/Text&gt;&#10;    &lt;Box style={{ width:'80px', height:'4px', background:'#00C48C', marginTop:22, marginBottom:22 }} /&gt;&#10;    &lt;Text style={{ fontSize:23, color:'#4A5568', lineHeight:1.8 }}&gt;用&lt;span style={{ color:'#0B2A5B', fontWeight:'bold' }}&gt;一个真实场景&lt;/span&gt;证明实质性帮助，&lt;br/&gt;并诚实说明数据口径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7FF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0B2A5B"/>
              </a:gs>
              <a:gs pos="100000">
                <a:srgbClr val="0E4DA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72402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6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991100" y="2295525"/>
            <a:ext cx="659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0E4DA4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991100" y="2657475"/>
            <a:ext cx="6591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B2A5B"/>
                </a:solidFill>
                <a:latin typeface="Microsoft YaHei"/>
                <a:ea typeface="Microsoft YaHei"/>
              </a:rPr>
              <a:t>怎么帮到</a:t>
            </a:r>
            <a:r>
              <a:rPr lang="en-US" sz="330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300" b="1">
                <a:solidFill>
                  <a:srgbClr val="0B2A5B"/>
                </a:solidFill>
                <a:latin typeface="Microsoft YaHei"/>
                <a:ea typeface="Microsoft YaHei"/>
              </a:rPr>
              <a:t>诚实标注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991100" y="3371850"/>
            <a:ext cx="762000" cy="38100"/>
          </a:xfrm>
          <a:prstGeom prst="rect">
            <a:avLst/>
          </a:prstGeom>
          <a:solidFill>
            <a:srgbClr val="00C48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991100" y="3619500"/>
            <a:ext cx="6591300" cy="9525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zh-CN" sz="1725" b="1">
                <a:solidFill>
                  <a:srgbClr val="0B2A5B"/>
                </a:solidFill>
                <a:latin typeface="Microsoft YaHei"/>
                <a:ea typeface="Microsoft YaHei"/>
              </a:rPr>
              <a:t>一个真实场景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证明实质性帮助，</a:t>
            </a:r>
            <a:endParaRPr/>
          </a:p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并诚实说明数据口径。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style={{ width:'1280px', height:'720px', fontFamily:'Microsoft YaHei', background:'#FFFFFF', padding:'44px 48px', display:'flex', flexDirection:'column' }}&gt;&#10;  &lt;Text style={{ fontSize:34, color:'#0B2A5B', fontWeight:'bold' }}&gt;这些结论，来自真实生意数据&lt;/Text&gt;&#10;  &lt;Box style={{ width:'100%', height:'2px', background:'#D6DCE5', marginTop:14, marginBottom:24 }} /&gt;&#10;  &lt;Box style={{ display:'flex', flexDirection:'row', gap:22, justifyContent:'space-between' }}&gt;&#10;    {[['10万+','真实订单（Olist 公开数据集）','#0E4DA4'],['2016–2018','约两年销售时间跨度','#00A878'],['9 张','原始 CSV 自举导入','#0E4DA4']].map((it,i)=&gt;(&#10;      &lt;Box key={i} style={{ flex:1, background:'#F2F7FF', borderRadius:14, border:'1px solid #E1EAF6', padding:'26px 18px', display:'flex', flexDirection:'column', alignItems:'center' }}&gt;&#10;        &lt;Text style={{ fontSize:62, color:it[2], fontWeight:'bold' }}&gt;{it[0]}&lt;/Text&gt;&#10;        &lt;Text style={{ fontSize:18, color:'#4A5568', marginTop:12, textAlign:'center', lineHeight:1.5 }}&gt;{it[1]}&lt;/Text&gt;&#10;      &lt;/Box&gt;&#10;    ))}&#10;  &lt;/Box&gt;&#10;  &lt;Box style={{ flex:1, display:'flex', flexDirection:'row', gap:20, marginTop:22 }}&gt;&#10;    &lt;Box style={{ flex:1, background:'#0B2A5B', borderRadius:12, padding:'22px 24px', display:'flex', flexDirection:'column', justifyContent:'center' }}&gt;&#10;      &lt;Text style={{ fontSize:21, color:'#8BE0CC', fontWeight:'bold' }}&gt;结论：用真实业务数据验证，而非造数演示&lt;/Text&gt;&#10;      &lt;Text style={{ fontSize:17, color:'#C7E6FF', marginTop:10, lineHeight:1.7 }}&gt;诊断、信号、预警全部来自约 10 万笔真实订单的端到端计算，演示可复现、可审计。&lt;/Text&gt;&#10;    &lt;/Box&gt;&#10;    &lt;Box style={{ width:'40%', background:'#EAF7F1', borderRadius:12, padding:'22px 24px', display:'flex', flexDirection:'column', justifyContent:'center', border:'1px solid #BFE9D6' }}&gt;&#10;      &lt;Text style={{ fontSize:18, color:'#0B2A5B', fontWeight:'bold', lineHeight:1.5 }}&gt;诚实口径 = 答辩加分项&lt;/Text&gt;&#10;      &lt;Text style={{ fontSize:16, color:'#3A6B52', marginTop:8, lineHeight:1.6 }}&gt;补货建议明确标注&quot;推测口径，非实时库存&quot;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57200" y="419100"/>
            <a:ext cx="1127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这些结论，来自真实生意数据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57200" y="942975"/>
            <a:ext cx="112776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457200" y="1190625"/>
            <a:ext cx="3619500" cy="1638300"/>
          </a:xfrm>
          <a:prstGeom prst="roundRect">
            <a:avLst>
              <a:gd name="adj" fmla="val 8140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381125" y="1438275"/>
            <a:ext cx="17716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0E4DA4"/>
                </a:solidFill>
                <a:latin typeface="Microsoft YaHei"/>
                <a:ea typeface="Microsoft YaHei"/>
              </a:rPr>
              <a:t>10</a:t>
            </a:r>
            <a:r>
              <a:rPr lang="zh-CN" sz="4650" b="1">
                <a:solidFill>
                  <a:srgbClr val="0E4DA4"/>
                </a:solidFill>
                <a:latin typeface="Microsoft YaHei"/>
                <a:ea typeface="Microsoft YaHei"/>
              </a:rPr>
              <a:t>万</a:t>
            </a:r>
            <a:r>
              <a:rPr lang="en-US" sz="4650" b="1">
                <a:solidFill>
                  <a:srgbClr val="0E4DA4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14425" y="2266950"/>
            <a:ext cx="2314575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真实订单（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Olist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公开数据集）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286250" y="1190625"/>
            <a:ext cx="3619500" cy="1638300"/>
          </a:xfrm>
          <a:prstGeom prst="roundRect">
            <a:avLst>
              <a:gd name="adj" fmla="val 8140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476750" y="1438275"/>
            <a:ext cx="3238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00A878"/>
                </a:solidFill>
                <a:latin typeface="Microsoft YaHei"/>
                <a:ea typeface="Microsoft YaHei"/>
              </a:rPr>
              <a:t>2016–2018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324475" y="2266950"/>
            <a:ext cx="1543050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约两年销售时间跨度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8115300" y="1190625"/>
            <a:ext cx="3619500" cy="1638300"/>
          </a:xfrm>
          <a:prstGeom prst="roundRect">
            <a:avLst>
              <a:gd name="adj" fmla="val 8140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363075" y="1438275"/>
            <a:ext cx="11334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0E4DA4"/>
                </a:solidFill>
                <a:latin typeface="Microsoft YaHei"/>
                <a:ea typeface="Microsoft YaHei"/>
              </a:rPr>
              <a:t xml:space="preserve">9 </a:t>
            </a:r>
            <a:r>
              <a:rPr lang="zh-CN" sz="4650" b="1">
                <a:solidFill>
                  <a:srgbClr val="0E4DA4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191625" y="2266950"/>
            <a:ext cx="1466850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原始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CSV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自举导入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457200" y="3038475"/>
            <a:ext cx="6572250" cy="3400425"/>
          </a:xfrm>
          <a:prstGeom prst="roundRect">
            <a:avLst>
              <a:gd name="adj" fmla="val 3361"/>
            </a:avLst>
          </a:prstGeom>
          <a:solidFill>
            <a:srgbClr val="0B2A5B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85800" y="4400550"/>
            <a:ext cx="6115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8BE0CC"/>
                </a:solidFill>
                <a:latin typeface="Microsoft YaHei"/>
                <a:ea typeface="Microsoft YaHei"/>
              </a:rPr>
              <a:t>结论：用真实业务数据验证，而非造数演示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85800" y="4743450"/>
            <a:ext cx="61150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C7E6FF"/>
                </a:solidFill>
                <a:latin typeface="Microsoft YaHei"/>
                <a:ea typeface="Microsoft YaHei"/>
              </a:rPr>
              <a:t>诊断、信号、预警全部来自约</a:t>
            </a:r>
            <a:r>
              <a:rPr lang="en-US" sz="1275">
                <a:solidFill>
                  <a:srgbClr val="C7E6F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75">
                <a:solidFill>
                  <a:srgbClr val="C7E6FF"/>
                </a:solidFill>
                <a:latin typeface="Microsoft YaHei"/>
                <a:ea typeface="Microsoft YaHei"/>
              </a:rPr>
              <a:t>万笔真实订单的端到端计算，演示可复现、可审计。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7219950" y="3038475"/>
            <a:ext cx="4514850" cy="3400425"/>
          </a:xfrm>
          <a:prstGeom prst="roundRect">
            <a:avLst>
              <a:gd name="adj" fmla="val 3361"/>
            </a:avLst>
          </a:prstGeom>
          <a:solidFill>
            <a:srgbClr val="EAF7F1"/>
          </a:solidFill>
          <a:ln w="12700">
            <a:solidFill>
              <a:srgbClr val="BFE9D6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448550" y="4400550"/>
            <a:ext cx="40576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B2A5B"/>
                </a:solidFill>
                <a:latin typeface="Microsoft YaHei"/>
                <a:ea typeface="Microsoft YaHei"/>
              </a:rPr>
              <a:t>诚实口径</a:t>
            </a:r>
            <a:r>
              <a:rPr lang="en-US" sz="135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350" b="1">
                <a:solidFill>
                  <a:srgbClr val="0B2A5B"/>
                </a:solidFill>
                <a:latin typeface="Microsoft YaHei"/>
                <a:ea typeface="Microsoft YaHei"/>
              </a:rPr>
              <a:t>答辩加分项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448550" y="4791075"/>
            <a:ext cx="40576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3A6B52"/>
                </a:solidFill>
                <a:latin typeface="Microsoft YaHei"/>
                <a:ea typeface="Microsoft YaHei"/>
              </a:rPr>
              <a:t>补货建议明确标注</a:t>
            </a:r>
            <a:r>
              <a:rPr lang="en-US" sz="1200">
                <a:solidFill>
                  <a:srgbClr val="3A6B52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3A6B52"/>
                </a:solidFill>
                <a:latin typeface="Microsoft YaHei"/>
                <a:ea typeface="Microsoft YaHei"/>
              </a:rPr>
              <a:t>推测口径，非实时库存</a:t>
            </a:r>
            <a:r>
              <a:rPr lang="en-US" sz="1200">
                <a:solidFill>
                  <a:srgbClr val="3A6B52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3A6B5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8" name="" descr="&lt;Slide style={{ width:'1280px', height:'720px', fontFamily:'Microsoft YaHei', background:'#FFFFFF', padding:'44px 48px', display:'flex', flexDirection:'column' }}&gt;&#10;  &lt;Text style={{ fontSize:34, color:'#0B2A5B', fontWeight:'bold' }}&gt;林姐的周一早晨：3 分钟，两个决定&lt;/Text&gt;&#10;  &lt;Text style={{ fontSize:19, color:'#8B97A8', marginTop:8 }}&gt;一个完整场景，证明&quot;实质性帮助&quot;——她不必懂数据，照做即可&lt;/Text&gt;&#10;  &lt;Box style={{ width:'100%', height:'2px', background:'#D6DCE5', marginTop:14, marginBottom:24 }} /&gt;&#10;  &lt;Box style={{ display:'flex', flexDirection:'row', alignItems:'stretch', gap:10 }}&gt;&#10;    {[['08:50','打开看板','首页顶部&quot;今日行动清单&quot;直接给出 3 条建议','#0E4DA4'],['09:02','看到预警','「酷玩」品类环比 −41.9%，系统标红','#D9534F'],['09:03','决定一：清仓','酷玩降价清库存、停止补货','#0E4DA4'],['09:04','决定二：加注','「健康美容」+37.8%，预算转去主推','#00A878']].map((s,i)=&gt;(&#10;      &lt;Box key={i} style={{ flex:1, background:'#F2F7FF', borderRadius:12, padding:'20px 16px', display:'flex', flexDirection:'column', border:'1px solid #E1EAF6' }}&gt;&#10;        &lt;Text style={{ fontSize:20, color:s[3], fontWeight:'bold' }}&gt;{s[0]}&lt;/Text&gt;&#10;        &lt;Text style={{ fontSize:22, color:'#0B2A5B', fontWeight:'bold', marginTop:8 }}&gt;{s[1]}&lt;/Text&gt;&#10;        &lt;Text style={{ fontSize:16, color:'#4A5568', marginTop:10, lineHeight:1.6 }}&gt;{s[2]}&lt;/Text&gt;&#10;      &lt;/Box&gt;&#10;    ))}&#10;  &lt;/Box&gt;&#10;  &lt;Box style={{ flex:1, background:'linear-gradient(135deg, #0B2A5B 0%, #0E4DA4 100%)', borderRadius:12, marginTop:22, display:'flex', flexDirection:'row', alignItems:'center', justifyContent:'center', gap:16, padding:'0 30px' }}&gt;&#10;    &lt;Text style={{ fontSize:24, color:'#8BE0CC', fontWeight:'bold' }}&gt;以前要半天拉 Excel，现在 3 分钟定下下周动作。&lt;/Text&gt;&#10;    &lt;Text style={{ fontSize:18, color:'#C7E6FF' }}&gt;—— 这才是&quot;实质性帮助&quot;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57200" y="419100"/>
            <a:ext cx="1127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林姐的周一早晨：</a:t>
            </a:r>
            <a:r>
              <a:rPr lang="en-US" sz="255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分钟，两个决定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57200" y="885825"/>
            <a:ext cx="1127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一个完整场景，证明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实质性帮助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>"——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她不必懂数据，照做即可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57200" y="1238250"/>
            <a:ext cx="112776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457200" y="1485900"/>
            <a:ext cx="2752725" cy="1628775"/>
          </a:xfrm>
          <a:prstGeom prst="roundRect">
            <a:avLst>
              <a:gd name="adj" fmla="val 7018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1676400"/>
            <a:ext cx="2447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4DA4"/>
                </a:solidFill>
                <a:latin typeface="Microsoft YaHei"/>
                <a:ea typeface="Microsoft YaHei"/>
              </a:rPr>
              <a:t>08:50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2447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打开看板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24479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首页顶部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今日行动清单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直接给出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条建议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3305175" y="1485900"/>
            <a:ext cx="2743200" cy="1628775"/>
          </a:xfrm>
          <a:prstGeom prst="roundRect">
            <a:avLst>
              <a:gd name="adj" fmla="val 7018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457575" y="1676400"/>
            <a:ext cx="2438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09:02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457575" y="1981200"/>
            <a:ext cx="2438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看到预警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457575" y="2333625"/>
            <a:ext cx="2438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「酷玩」品类环比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−41.9%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，系统标红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143625" y="1485900"/>
            <a:ext cx="2752725" cy="1628775"/>
          </a:xfrm>
          <a:prstGeom prst="roundRect">
            <a:avLst>
              <a:gd name="adj" fmla="val 7018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296025" y="1676400"/>
            <a:ext cx="2447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4DA4"/>
                </a:solidFill>
                <a:latin typeface="Microsoft YaHei"/>
                <a:ea typeface="Microsoft YaHei"/>
              </a:rPr>
              <a:t>09:03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296025" y="1981200"/>
            <a:ext cx="2447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决定一：清仓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296025" y="2333625"/>
            <a:ext cx="24479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酷玩降价清库存、停止补货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8991600" y="1485900"/>
            <a:ext cx="2743200" cy="1628775"/>
          </a:xfrm>
          <a:prstGeom prst="roundRect">
            <a:avLst>
              <a:gd name="adj" fmla="val 7018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144000" y="1676400"/>
            <a:ext cx="2438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A878"/>
                </a:solidFill>
                <a:latin typeface="Microsoft YaHei"/>
                <a:ea typeface="Microsoft YaHei"/>
              </a:rPr>
              <a:t>09:04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144000" y="1981200"/>
            <a:ext cx="2438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决定二：加注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9144000" y="2333625"/>
            <a:ext cx="2438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「健康美容」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+37.8%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，预算转去主推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57200" y="3324225"/>
            <a:ext cx="11277600" cy="3114675"/>
          </a:xfrm>
          <a:prstGeom prst="roundRect">
            <a:avLst>
              <a:gd name="adj" fmla="val 3670"/>
            </a:avLst>
          </a:prstGeom>
          <a:gradFill>
            <a:gsLst>
              <a:gs pos="0">
                <a:srgbClr val="0B2A5B"/>
              </a:gs>
              <a:gs pos="100000">
                <a:srgbClr val="0E4DA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524125" y="4743450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8BE0CC"/>
                </a:solidFill>
                <a:latin typeface="Microsoft YaHei"/>
                <a:ea typeface="Microsoft YaHei"/>
              </a:rPr>
              <a:t>以前要半天拉</a:t>
            </a:r>
            <a:r>
              <a:rPr lang="en-US" sz="1800" b="1">
                <a:solidFill>
                  <a:srgbClr val="8BE0CC"/>
                </a:solidFill>
                <a:latin typeface="Microsoft YaHei"/>
                <a:ea typeface="Microsoft YaHei"/>
              </a:rPr>
              <a:t xml:space="preserve"> Excel</a:t>
            </a:r>
            <a:r>
              <a:rPr lang="zh-CN" sz="1800" b="1">
                <a:solidFill>
                  <a:srgbClr val="8BE0CC"/>
                </a:solidFill>
                <a:latin typeface="Microsoft YaHei"/>
                <a:ea typeface="Microsoft YaHei"/>
              </a:rPr>
              <a:t>，现在</a:t>
            </a:r>
            <a:r>
              <a:rPr lang="en-US" sz="1800" b="1">
                <a:solidFill>
                  <a:srgbClr val="8BE0CC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800" b="1">
                <a:solidFill>
                  <a:srgbClr val="8BE0CC"/>
                </a:solidFill>
                <a:latin typeface="Microsoft YaHei"/>
                <a:ea typeface="Microsoft YaHei"/>
              </a:rPr>
              <a:t>分钟定下下周动作。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724775" y="4781550"/>
            <a:ext cx="194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7E6FF"/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1350">
                <a:solidFill>
                  <a:srgbClr val="C7E6FF"/>
                </a:solidFill>
                <a:latin typeface="Microsoft YaHei"/>
                <a:ea typeface="Microsoft YaHei"/>
              </a:rPr>
              <a:t>这才是</a:t>
            </a:r>
            <a:r>
              <a:rPr lang="en-US" sz="1350">
                <a:solidFill>
                  <a:srgbClr val="C7E6F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C7E6FF"/>
                </a:solidFill>
                <a:latin typeface="Microsoft YaHei"/>
                <a:ea typeface="Microsoft YaHei"/>
              </a:rPr>
              <a:t>实质性帮助</a:t>
            </a:r>
            <a:r>
              <a:rPr lang="en-US" sz="1350">
                <a:solidFill>
                  <a:srgbClr val="C7E6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style={{ width:'1280px', height:'720px', fontFamily:'Microsoft YaHei', background:'#FFFFFF', padding:'44px 48px', display:'flex', flexDirection:'column' }}&gt;&#10;  &lt;Text style={{ fontSize:34, color:'#0B2A5B', fontWeight:'bold' }}&gt;诚实地讲清楚，才能真帮到&lt;/Text&gt;&#10;  &lt;Box style={{ width:'100%', height:'2px', background:'#D6DCE5', marginTop:14, marginBottom:22 }} /&gt;&#10;  &lt;Box style={{ display:'flex', flexDirection:'row', gap:20 }}&gt;&#10;    {[&#10;      ['补货建议','明确标注&quot;基于销售趋势推测，非实时库存&quot;——Olist 无库存字段，不假装万能。','#0E4DA8'.toLowerCase()],&#10;      ['复购率 1.8%','说明&quot;本数据集订单天然低频，属数据特性，真实店铺通常更高&quot;——不背系统缺陷的锅。','#00A878'],&#10;      ['画像与调研口径','人物画像标注&quot;卖家视角切片示例&quot;；调研基于公开行业报告 + 真实数据印证，未做一手访谈，如实说明。','#0E4DA8'],&#10;    ].map((c,i)=&gt;(&#10;      &lt;Box key={i} style={{ flex:1, background:'#F2F7FF', borderRadius:14, padding:'22px 20px', display:'flex', flexDirection:'column', border:'1px solid #E1EAF6' }}&gt;&#10;        &lt;Box style={{ width:44, height:4, background:c[2], borderRadius:2 }} /&gt;&#10;        &lt;Text style={{ fontSize:22, color:'#0B2A5B', fontWeight:'bold', marginTop:14 }}&gt;{c[0]}&lt;/Text&gt;&#10;        &lt;Text style={{ fontSize:17, color:'#4A5568', marginTop:12, lineHeight:1.7 }}&gt;{c[1]}&lt;/Text&gt;&#10;      &lt;/Box&gt;&#10;    ))}&#10;  &lt;/Box&gt;&#10;  &lt;Box style={{ flex:1, background:'linear-gradient(135deg, #0B2A5B 0%, #0E4DA4 100%)', borderRadius:14, marginTop:22, display:'flex', flexDirection:'column', justifyContent:'center', alignItems:'center', padding:'0 60px' }}&gt;&#10;    &lt;Text style={{ fontSize:28, color:'#FFFFFF', fontWeight:'bold' }}&gt;致谢&lt;/Text&gt;&#10;    &lt;Text style={{ fontSize:18, color:'#C7E6FF', marginTop:12, lineHeight:1.7, textAlign:'center' }}&gt;感谢课程老师与评审的指导，感谢 Olist 开源电商数据集提供的真实业务样本。&lt;br/&gt;谢谢聆听，欢迎提问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57200" y="419100"/>
            <a:ext cx="1127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2A5B"/>
                </a:solidFill>
                <a:latin typeface="Microsoft YaHei"/>
                <a:ea typeface="Microsoft YaHei"/>
              </a:rPr>
              <a:t>诚实地讲清楚，才能真帮到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57200" y="942975"/>
            <a:ext cx="112776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457200" y="1171575"/>
            <a:ext cx="3629025" cy="1962150"/>
          </a:xfrm>
          <a:prstGeom prst="roundRect">
            <a:avLst>
              <a:gd name="adj" fmla="val 6796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47700" y="13811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E4DA8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47700" y="155257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补货建议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47700" y="1924050"/>
            <a:ext cx="32480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明确标注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基于销售趋势推测，非实时库存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"——Olist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无库存字段，不假装万能。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276725" y="1171575"/>
            <a:ext cx="3638550" cy="1962150"/>
          </a:xfrm>
          <a:prstGeom prst="roundRect">
            <a:avLst>
              <a:gd name="adj" fmla="val 6796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4467225" y="13811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0A87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467225" y="155257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复购率</a:t>
            </a:r>
            <a:r>
              <a:rPr lang="en-US" sz="1650" b="1">
                <a:solidFill>
                  <a:srgbClr val="0B2A5B"/>
                </a:solidFill>
                <a:latin typeface="Microsoft YaHei"/>
                <a:ea typeface="Microsoft YaHei"/>
              </a:rPr>
              <a:t xml:space="preserve"> 1.8%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467225" y="1924050"/>
            <a:ext cx="32575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说明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本数据集订单天然低频，属数据特性，真实店铺通常更高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"——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不背系统缺陷的锅。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105775" y="1171575"/>
            <a:ext cx="3629025" cy="1962150"/>
          </a:xfrm>
          <a:prstGeom prst="roundRect">
            <a:avLst>
              <a:gd name="adj" fmla="val 6796"/>
            </a:avLst>
          </a:prstGeom>
          <a:solidFill>
            <a:srgbClr val="F2F7FF"/>
          </a:solidFill>
          <a:ln w="12700">
            <a:solidFill>
              <a:srgbClr val="E1EAF6"/>
            </a:solidFill>
            <a:prstDash val="solid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8296275" y="13811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0E4DA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296275" y="155257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A5B"/>
                </a:solidFill>
                <a:latin typeface="Microsoft YaHei"/>
                <a:ea typeface="Microsoft YaHei"/>
              </a:rPr>
              <a:t>画像与调研口径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296275" y="1924050"/>
            <a:ext cx="324802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人物画像标注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卖家视角切片示例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；调研基于公开行业报告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真实数据印证，未做一手访谈，如实说明。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57200" y="3343275"/>
            <a:ext cx="11277600" cy="3095625"/>
          </a:xfrm>
          <a:prstGeom prst="roundRect">
            <a:avLst>
              <a:gd name="adj" fmla="val 4308"/>
            </a:avLst>
          </a:prstGeom>
          <a:gradFill>
            <a:gsLst>
              <a:gs pos="0">
                <a:srgbClr val="0B2A5B"/>
              </a:gs>
              <a:gs pos="100000">
                <a:srgbClr val="0E4DA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829300" y="432435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致谢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114675" y="4762500"/>
            <a:ext cx="5962650" cy="7048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350">
                <a:solidFill>
                  <a:srgbClr val="C7E6FF"/>
                </a:solidFill>
                <a:latin typeface="Microsoft YaHei"/>
                <a:ea typeface="Microsoft YaHei"/>
              </a:rPr>
              <a:t>感谢课程老师与评审的指导，感谢</a:t>
            </a:r>
            <a:r>
              <a:rPr lang="en-US" sz="1350">
                <a:solidFill>
                  <a:srgbClr val="C7E6FF"/>
                </a:solidFill>
                <a:latin typeface="Microsoft YaHei"/>
                <a:ea typeface="Microsoft YaHei"/>
              </a:rPr>
              <a:t xml:space="preserve"> Olist </a:t>
            </a:r>
            <a:r>
              <a:rPr lang="zh-CN" sz="1350">
                <a:solidFill>
                  <a:srgbClr val="C7E6FF"/>
                </a:solidFill>
                <a:latin typeface="Microsoft YaHei"/>
                <a:ea typeface="Microsoft YaHei"/>
              </a:rPr>
              <a:t>开源电商数据集提供的真实业务样本。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350">
                <a:solidFill>
                  <a:srgbClr val="C7E6FF"/>
                </a:solidFill>
                <a:latin typeface="Microsoft YaHei"/>
                <a:ea typeface="Microsoft YaHei"/>
              </a:rPr>
              <a:t>谢谢聆听，欢迎提问。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2026-10-24T21:10:36Z</dcterms:created>
  <dcterms:modified xsi:type="dcterms:W3CDTF">2026-10-24T21:10:36Z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{"AIGC":{"Label":"1","ContentProducer":"00119111010856365494821B355","ProduceID":"01a16cb59f457b67813fb2f20c9692d0","ReservedCode1":"","ContentPropagator":"00119111010856365494821B355","PropagateID":"01a16cb59f457b67813fb2f20c9692d0","ReservedCode2":""}}</vt:lpwstr>
  </property>
</Properties>
</file>