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6" Type="http://schemas.openxmlformats.org/officeDocument/2006/relationships/viewProps" Target="viewProps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tableStyles" Target="tableStyles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background:'#FFFFFF', fontFamily:'Microsoft YaHei', position:'relative' }}&gt;&#10;  &lt;Box style={{ position:'absolute', top:0, left:0, width:'1280px', height:'12px', background:'#0E3F8C' }} /&gt;&#10;  &lt;Box style={{ position:'absolute', bottom:0, left:0, width:'1280px', height:'12px', background:'#1E4FA8' }} /&gt;&#10;  &lt;Box style={{ height:'720px', display:'flex', flexDirection:'column', justifyContent:'center', alignItems:'center', padding:'0 80px' }}&gt;&#10;    &lt;Text style={{ fontSize:28, color:'#3D7BD9', fontWeight:'bold', letterSpacing:5 }}&gt;E-COMMERCE SALES INSIGHT DASHBOARD&lt;/Text&gt;&#10;    &lt;Text style={{ fontSize:62, color:'#0E3F8C', fontWeight:'bold', marginTop:18, textAlign:'center' }}&gt;DataPeak · 电商销售数据洞察看板&lt;/Text&gt;&#10;    &lt;Box style={{ width:'120px', height:'4px', background:'#FFC107', marginTop:22, marginBottom:22 }} /&gt;&#10;    &lt;Text style={{ fontSize:25, color:'#4A5568' }}&gt;把专业分析，翻译成卖家能行动的结论&lt;/Text&gt;&#10;    &lt;Box style={{ marginTop:58, display:'flex', flexDirection:'row', gap:46 }}&gt;&#10;      &lt;Box style={{ display:'flex', flexDirection:'column', alignItems:'center' }}&gt;&#10;        &lt;Text style={{ fontSize:15, color:'#8B97A8' }}&gt;课程&lt;/Text&gt;&#10;        &lt;Text style={{ fontSize:20, color:'#1A2230', fontWeight:'bold', marginTop:6 }}&gt;Web 应用开发课程设计&lt;/Text&gt;&#10;      &lt;/Box&gt;&#10;      &lt;Box style={{ width:'1px', height:'46px', background:'#D6DCE5' }} /&gt;&#10;      &lt;Box style={{ display:'flex', flexDirection:'column', alignItems:'center' }}&gt;&#10;        &lt;Text style={{ fontSize:15, color:'#8B97A8' }}&gt;汇报人&lt;/Text&gt;&#10;        &lt;Text style={{ fontSize:20, color:'#1A2230', fontWeight:'bold', marginTop:6 }}&gt;DataPeak 团队&lt;/Text&gt;&#10;      &lt;/Box&gt;&#10;      &lt;Box style={{ width:'1px', height:'46px', background:'#D6DCE5' }} /&gt;&#10;      &lt;Box style={{ display:'flex', flexDirection:'column', alignItems:'center' }}&gt;&#10;        &lt;Text style={{ fontSize:15, color:'#8B97A8' }}&gt;日期&lt;/Text&gt;&#10;        &lt;Text style={{ fontSize:20, color:'#1A2230', fontWeight:'bold', marginTop:6 }}&gt;2026.10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2343150" y="1952625"/>
            <a:ext cx="75152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375">
                <a:solidFill>
                  <a:srgbClr val="3D7BD9"/>
                </a:solidFill>
                <a:latin typeface="Microsoft YaHei"/>
                <a:ea typeface="Microsoft YaHei"/>
              </a:rPr>
              <a:t>E-COMMERCE SALES INSIGHT DASHBOARD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438275" y="2447925"/>
            <a:ext cx="9324975" cy="7143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DataPeak · </a:t>
            </a:r>
            <a:r>
              <a:rPr lang="zh-CN" sz="4650" b="1">
                <a:solidFill>
                  <a:srgbClr val="0E3F8C"/>
                </a:solidFill>
                <a:latin typeface="Microsoft YaHei"/>
                <a:ea typeface="Microsoft YaHei"/>
              </a:rPr>
              <a:t>电商销售数据洞察看板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5524500" y="3371850"/>
            <a:ext cx="1143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076700" y="3619500"/>
            <a:ext cx="404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>
                <a:solidFill>
                  <a:srgbClr val="4A5568"/>
                </a:solidFill>
                <a:latin typeface="Microsoft YaHei"/>
                <a:ea typeface="Microsoft YaHei"/>
              </a:rPr>
              <a:t>把专业分析，翻译成卖家能行动的结论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019550" y="4457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课程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152775" y="46863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应用开发课程设计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610225" y="4457700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515100" y="44577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57900" y="4686300"/>
            <a:ext cx="1343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DataPeak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团队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7839075" y="4457700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524875" y="44577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日期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286750" y="46863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2026.10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114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0" y="6743700"/>
            <a:ext cx="12192000" cy="114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'1280px', height:'720px', fontFamily:'Microsoft YaHei', background:'#FFFFFF', display:'flex', flexDirection:'row' }}&gt;&#10;  &lt;Box style={{ width:'380px', height:'720px', background:'#0E3F8C', display:'flex', flexDirection:'column', justifyContent:'center', padding:'0 44px' }}&gt;&#10;    &lt;Text style={{ fontSize:20, color:'#9DC0F0', letterSpacing:6 }}&gt;CONTENTS&lt;/Text&gt;&#10;    &lt;Text style={{ fontSize:48, color:'#FFFFFF', fontWeight:'bold', marginTop:12 }}&gt;目录&lt;/Text&gt;&#10;    &lt;Box style={{ width:'60px', height:'4px', background:'#FFC107', marginTop:20 }} /&gt;&#10;    &lt;Text style={{ fontSize:16, color:'#C9DAF2', marginTop:28, lineHeight:1.7 }}&gt;从真实痛点出发，&lt;br/&gt;到可发行的产品收尾。&lt;/Text&gt;&#10;  &lt;/Box&gt;&#10;  &lt;Box style={{ flex:1, height:'720px', display:'flex', flexDirection:'column', justifyContent:'center', padding:'0 64px', gap:26 }}&gt;&#10;    {[['01','项目背景与痛点','中小电商卖家的真实困境'],['02','产品定位与技术方案','真人话的分析与轻量全栈'],['03','核心功能与真实数据','五大功能 + Olist 验证'],['04','工程化流程与答辩价值','团队流水线到可发行']].map((it,i)=&gt;(&#10;      &lt;Box key={i} style={{ display:'flex', flexDirection:'row', alignItems:'center', gap:24 }}&gt;&#10;        &lt;Text style={{ fontSize:42, color:'#1E4FA8', fontWeight:'bold' }}&gt;{it[0]}&lt;/Text&gt;&#10;        &lt;Box style={{ width:'1px', height:'46px', background:'#D6DCE5' }} /&gt;&#10;        &lt;Box&gt;&#10;          &lt;Text style={{ fontSize:26, color:'#1A2230', fontWeight:'bold' }}&gt;{it[1]}&lt;/Text&gt;&#10;          &lt;Text style={{ fontSize:17, color:'#8B97A8', marginTop:4 }}&gt;{it[2]}&lt;/Text&gt;&#10;        &lt;/Box&gt;&#10;      &lt;/Box&gt;&#10;    ))}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19100" y="241935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9DC0F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19100" y="2762250"/>
            <a:ext cx="27813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19100" y="3505200"/>
            <a:ext cx="5715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19100" y="3810000"/>
            <a:ext cx="27813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C9DAF2"/>
                </a:solidFill>
                <a:latin typeface="Microsoft YaHei"/>
                <a:ea typeface="Microsoft YaHei"/>
              </a:rPr>
              <a:t>从真实痛点出发，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C9DAF2"/>
                </a:solidFill>
                <a:latin typeface="Microsoft YaHei"/>
                <a:ea typeface="Microsoft YaHei"/>
              </a:rPr>
              <a:t>到可发行的产品收尾。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229100" y="200025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953000" y="2028825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191125" y="1971675"/>
            <a:ext cx="1781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项目背景与痛点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191125" y="231457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中小电商卖家的真实困境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229100" y="2790825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953000" y="2819400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191125" y="2762250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产品定位与技术方案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191125" y="3105150"/>
            <a:ext cx="2228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真人话的分析与轻量全栈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229100" y="358140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953000" y="3609975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191125" y="35528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核心功能与真实数据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91125" y="3895725"/>
            <a:ext cx="2228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五大功能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+ Olist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229100" y="4371975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953000" y="4400550"/>
            <a:ext cx="9525" cy="4381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191125" y="4343400"/>
            <a:ext cx="2476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工程化流程与答辩价值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191125" y="46863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团队流水线到可发行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style={{ width:'1280px', height:'720px', fontFamily:'Microsoft YaHei', background:'#F7F9FC', display:'flex', flexDirection:'row' }}&gt;&#10;  &lt;Box style={{ width:'520px', height:'720px', background:'#0E3F8C', display:'flex', flexDirection:'column', justifyContent:'center', alignItems:'flex-end', padding:'0 56px' }}&gt;&#10;    &lt;Text style={{ fontSize:190, color:'#3D7BD9', fontWeight:'bold' }}&gt;01&lt;/Text&gt;&#10;  &lt;/Box&gt;&#10;  &lt;Box style={{ flex:1, height:'720px', display:'flex', flexDirection:'column', justifyContent:'center', padding:'0 64px' }}&gt;&#10;    &lt;Text style={{ fontSize:20, color:'#3D7BD9', letterSpacing:4 }}&gt;CHAPTER 01&lt;/Text&gt;&#10;    &lt;Text style={{ fontSize:44, color:'#0E3F8C', fontWeight:'bold', marginTop:14 }}&gt;项目背景与痛点&lt;/Text&gt;&#10;    &lt;Box style={{ width:'80px', height:'4px', background:'#FFC107', marginTop:22, marginBottom:22 }} /&gt;&#10;    &lt;Text style={{ fontSize:23, color:'#4A5568', lineHeight:1.8 }}&gt;数据越来越多，但中小卖家依然&lt;span style={{ color:'#0E3F8C', fontWeight:'bold' }}&gt;“看不懂生意”&lt;/span&gt;。&lt;br/&gt;我们用真实数据，把这个缺口补上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2181225" y="234315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3D7BD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562600" y="22955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562600" y="2657475"/>
            <a:ext cx="601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项目背景与痛点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562600" y="337185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60198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数据越来越多，但中小卖家依然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“看不懂生意”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我们用真实数据，把这个缺口补上。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width:'1280px', height:'720px', fontFamily:'Microsoft YaHei', background:'#FFFFFF', padding:'40px 44px', display:'flex', flexDirection:'column' }}&gt;&#10;  &lt;Text style={{ fontSize:34, color:'#0E3F8C', fontWeight:'bold' }}&gt;数据太多，却看不懂生意&lt;/Text&gt;&#10;  &lt;Box style={{ width:'100%', height:'2px', background:'#D6DCE5', marginTop:14, marginBottom:24 }} /&gt;&#10;  &lt;Box style={{ flex:1, display:'flex', flexDirection:'row', gap:28 }}&gt;&#10;    &lt;Box style={{ width:'59%', display:'flex', flexDirection:'column', gap:16 }}&gt;&#10;      &lt;Text style={{ fontSize:21, color:'#1A2230', lineHeight:1.6 }}&gt;中小电商卖家普遍面临三类困境：&lt;/Text&gt;&#10;      {[['表格堆满，不会搭看板','订单、流量、库存散落在几十个 Excel 里，想看趋势得自己写公式。'],['异常发现晚','销量骤降、评分下滑往往月底才察觉，错过补救窗口。'],['决策靠感觉','“该不该补货、该推哪类”没有数据支撑，只能凭经验拍脑袋。']].map((it,i)=&gt;(&#10;        &lt;Box key={i} style={{ display:'flex', flexDirection:'row', gap:14, background:'#F0F5FC', padding:'15px 18px', borderRadius:10 }}&gt;&#10;          &lt;Text style={{ fontSize:24, color:'#1E4FA8', fontWeight:'bold' }}&gt;{i+1}&lt;/Text&gt;&#10;          &lt;Box&gt;&#10;            &lt;Text style={{ fontSize:22, color:'#0E3F8C', fontWeight:'bold' }}&gt;{it[0]}&lt;/Text&gt;&#10;            &lt;Text style={{ fontSize:18, color:'#4A5568', marginTop:6, lineHeight:1.6 }}&gt;{it[1]}&lt;/Text&gt;&#10;          &lt;/Box&gt;&#10;        &lt;/Box&gt;&#10;      ))}&#10;    &lt;/Box&gt;&#10;    &lt;Box style={{ width:'41%', display:'flex', flexDirection:'column', gap:14, background:'#F7F9FC', padding:'22px', borderRadius:12, border:'1px solid #E5E7EB' }}&gt;&#10;      &lt;Text style={{ fontSize:22, color:'#0E3F8C', fontWeight:'bold' }}&gt;我们的典型用户&lt;/Text&gt;&#10;      {[['女装店主 林姐','不懂 Excel，只想知道“今天该不该上新”'],['代运营 小吴','管多家店，需要一眼看全店健康度'],['经销商 陈总','关心哪些品类该加单、哪些该清仓']].map((it,i)=&gt;(&#10;        &lt;Box key={i} style={{ background:'#FFFFFF', padding:'13px 16px', borderRadius:8, borderLeft:'4px solid #3D7BD9' }}&gt;&#10;          &lt;Text style={{ fontSize:20, color:'#1A2230', fontWeight:'bold' }}&gt;{it[0]}&lt;/Text&gt;&#10;          &lt;Text style={{ fontSize:16, color:'#4A5568', marginTop:4, lineHeight:1.5 }}&gt;{it[1]}&lt;/Text&gt;&#10;        &lt;/Box&gt;&#10;      ))}&#10;      &lt;Text style={{ fontSize:17, color:'#1E4FA8', fontWeight:'bold', marginTop:2 }}&gt;他们要的是“结论”，不是“表格”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9100" y="381000"/>
            <a:ext cx="1135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数据太多，却看不懂生意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19100" y="904875"/>
            <a:ext cx="113538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19100" y="1152525"/>
            <a:ext cx="6543675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中小电商卖家普遍面临三类困境：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19100" y="1695450"/>
            <a:ext cx="6543675" cy="933450"/>
          </a:xfrm>
          <a:prstGeom prst="roundRect">
            <a:avLst>
              <a:gd name="adj" fmla="val 1020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90550" y="1838325"/>
            <a:ext cx="1428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66775" y="1838325"/>
            <a:ext cx="514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表格堆满，不会搭看板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66775" y="2152650"/>
            <a:ext cx="51435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订单、流量、库存散落在几十个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里，想看趋势得自己写公式。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19100" y="2781300"/>
            <a:ext cx="6543675" cy="933450"/>
          </a:xfrm>
          <a:prstGeom prst="roundRect">
            <a:avLst>
              <a:gd name="adj" fmla="val 1020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90550" y="2924175"/>
            <a:ext cx="1428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66775" y="2924175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异常发现晚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66775" y="3238500"/>
            <a:ext cx="41148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销量骤降、评分下滑往往月底才察觉，错过补救窗口。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419100" y="3867150"/>
            <a:ext cx="6543675" cy="933450"/>
          </a:xfrm>
          <a:prstGeom prst="roundRect">
            <a:avLst>
              <a:gd name="adj" fmla="val 1020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90550" y="4010025"/>
            <a:ext cx="1428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66775" y="401002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决策靠感觉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66775" y="4324350"/>
            <a:ext cx="48006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“该不该补货、该推哪类”没有数据支撑，只能凭经验拍脑袋。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229475" y="1152525"/>
            <a:ext cx="4543425" cy="5324475"/>
          </a:xfrm>
          <a:prstGeom prst="roundRect">
            <a:avLst>
              <a:gd name="adj" fmla="val 251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39025" y="1362075"/>
            <a:ext cx="4124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我们的典型用户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477125" y="1752600"/>
            <a:ext cx="4124325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7477125" y="1752600"/>
            <a:ext cx="4124325" cy="790575"/>
          </a:xfrm>
          <a:custGeom>
            <a:pathLst>
              <a:path w="433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29525" y="1876425"/>
            <a:ext cx="3781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女装店主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林姐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29525" y="2143125"/>
            <a:ext cx="3781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Excel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，只想知道“今天该不该上新”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477125" y="2676525"/>
            <a:ext cx="4124325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7477125" y="2676525"/>
            <a:ext cx="4124325" cy="790575"/>
          </a:xfrm>
          <a:custGeom>
            <a:pathLst>
              <a:path w="433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629525" y="2800350"/>
            <a:ext cx="3781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代运营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小吴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29525" y="3067050"/>
            <a:ext cx="3781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管多家店，需要一眼看全店健康度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7477125" y="3600450"/>
            <a:ext cx="4124325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7477125" y="3600450"/>
            <a:ext cx="4124325" cy="790575"/>
          </a:xfrm>
          <a:custGeom>
            <a:pathLst>
              <a:path w="433" h="83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9"/>
                </a:lnTo>
                <a:cubicBezTo>
                  <a:pt x="4" y="81"/>
                  <a:pt x="5" y="83"/>
                  <a:pt x="7" y="83"/>
                </a:cubicBezTo>
                <a:cubicBezTo>
                  <a:pt x="3" y="83"/>
                  <a:pt x="0" y="79"/>
                  <a:pt x="0" y="7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629525" y="3724275"/>
            <a:ext cx="3781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经销商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陈总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629525" y="3990975"/>
            <a:ext cx="37814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关心哪些品类该加单、哪些该清仓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439025" y="4543425"/>
            <a:ext cx="4124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他们要的是“结论”，不是“表格”。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style={{ width:'1280px', height:'720px', fontFamily:'Microsoft YaHei', background:'#F7F9FC', display:'flex', flexDirection:'row' }}&gt;&#10;  &lt;Box style={{ width:'520px', height:'720px', background:'#0E3F8C', display:'flex', flexDirection:'column', justifyContent:'center', alignItems:'flex-end', padding:'0 56px' }}&gt;&#10;    &lt;Text style={{ fontSize:190, color:'#3D7BD9', fontWeight:'bold' }}&gt;02&lt;/Text&gt;&#10;  &lt;/Box&gt;&#10;  &lt;Box style={{ flex:1, height:'720px', display:'flex', flexDirection:'column', justifyContent:'center', padding:'0 64px' }}&gt;&#10;    &lt;Text style={{ fontSize:20, color:'#3D7BD9', letterSpacing:4 }}&gt;CHAPTER 02&lt;/Text&gt;&#10;    &lt;Text style={{ fontSize:44, color:'#0E3F8C', fontWeight:'bold', marginTop:14 }}&gt;产品定位与技术方案&lt;/Text&gt;&#10;    &lt;Box style={{ width:'80px', height:'4px', background:'#FFC107', marginTop:22, marginBottom:22 }} /&gt;&#10;    &lt;Text style={{ fontSize:23, color:'#4A5568', lineHeight:1.8 }}&gt;把“分析”做成人话：&lt;span style={{ color:'#0E3F8C', fontWeight:'bold' }}&gt;给结论、给建议、给预警&lt;/span&gt;。&lt;br/&gt;技术上用真实数据驱动的轻量全栈实现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2181225" y="234315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562600" y="22955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562600" y="2657475"/>
            <a:ext cx="601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产品定位与技术方案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562600" y="337185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60198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把“分析”做成人话：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给结论、给建议、给预警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技术上用真实数据驱动的轻量全栈实现。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style={{ width:'1280px', height:'720px', fontFamily:'Microsoft YaHei', background:'#0E3F8C', display:'flex', flexDirection:'column', justifyContent:'center', alignItems:'center', padding:'0 90px' }}&gt;&#10;  &lt;Text style={{ fontSize:24, color:'#9DC0F0', letterSpacing:8 }}&gt;PRODUCT POSITIONING&lt;/Text&gt;&#10;  &lt;Text style={{ fontSize:74, color:'#FFFFFF', fontWeight:'bold', marginTop:26, textAlign:'center' }}&gt;看不懂 Excel，&lt;br/&gt;也能看懂生意&lt;/Text&gt;&#10;  &lt;Box style={{ width:'150px', height:'5px', background:'#FFC107', marginTop:38 }} /&gt;&#10;  &lt;Text style={{ fontSize:25, color:'#D6E4F7', marginTop:38, textAlign:'center', lineHeight:1.8 }}&gt;把专业分析翻译成卖家能立刻行动的结论——&lt;br/&gt;给诊断、给建议、给预警。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029075" y="1419225"/>
            <a:ext cx="4143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600">
                <a:solidFill>
                  <a:srgbClr val="9DC0F0"/>
                </a:solidFill>
                <a:latin typeface="Microsoft YaHei"/>
                <a:ea typeface="Microsoft YaHei"/>
              </a:rPr>
              <a:t>PRODUCT POSITIONING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686175" y="1943100"/>
            <a:ext cx="4819650" cy="1695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5550" b="1">
                <a:solidFill>
                  <a:srgbClr val="FFFFFF"/>
                </a:solidFill>
                <a:latin typeface="Microsoft YaHei"/>
                <a:ea typeface="Microsoft YaHei"/>
              </a:rPr>
              <a:t>看不懂</a:t>
            </a:r>
            <a:r>
              <a:rPr lang="en-US" sz="5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Excel</a:t>
            </a:r>
            <a:r>
              <a:rPr lang="zh-CN" sz="5550" b="1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5550" b="1">
                <a:solidFill>
                  <a:srgbClr val="FFFFFF"/>
                </a:solidFill>
                <a:latin typeface="Microsoft YaHei"/>
                <a:ea typeface="Microsoft YaHei"/>
              </a:rPr>
              <a:t>也能看懂生意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5381625" y="4000500"/>
            <a:ext cx="142875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695700" y="4410075"/>
            <a:ext cx="4810125" cy="1028700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875">
                <a:solidFill>
                  <a:srgbClr val="D6E4F7"/>
                </a:solidFill>
                <a:latin typeface="Microsoft YaHei"/>
                <a:ea typeface="Microsoft YaHei"/>
              </a:rPr>
              <a:t>把专业分析翻译成卖家能立刻行动的结论——</a:t>
            </a:r>
            <a:endParaRPr/>
          </a:p>
          <a:p>
            <a:pPr algn="ctr">
              <a:lnSpc>
                <a:spcPct val="180000"/>
              </a:lnSpc>
            </a:pPr>
            <a:r>
              <a:rPr lang="zh-CN" sz="1875">
                <a:solidFill>
                  <a:srgbClr val="D6E4F7"/>
                </a:solidFill>
                <a:latin typeface="Microsoft YaHei"/>
                <a:ea typeface="Microsoft YaHei"/>
              </a:rPr>
              <a:t>给诊断、给建议、给预警。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6" name="" descr="&lt;Slide style={{ width:'1280px', height:'720px', fontFamily:'Microsoft YaHei', background:'#FFFFFF', padding:'40px 44px', display:'flex', flexDirection:'column' }}&gt;&#10;  &lt;Text style={{ fontSize:34, color:'#0E3F8C', fontWeight:'bold' }}&gt;真实数据驱动的轻量全栈&lt;/Text&gt;&#10;  &lt;Box style={{ width:'100%', height:'2px', background:'#D6DCE5', marginTop:14, marginBottom:22 }} /&gt;&#10;  &lt;Box style={{ flex:1, display:'flex', flexDirection:'row', gap:28 }}&gt;&#10;    &lt;Box style={{ width:'58%', background:'#F7F9FC', borderRadius:12, border:'1px solid #E5E7EB', display:'flex', flexDirection:'column', alignItems:'center', justifyContent:'center', padding:'16px' }}&gt;&#10;      &lt;Text style={{ fontSize:18, color:'#8B97A8', alignSelf:'flex-start', marginLeft:10 }}&gt;数据流向&lt;/Text&gt;&#10;      &lt;svg width={560} height={340} viewBox='0 0 620 380'&gt;&#10;        &lt;rect x='20' y='145' width='160' height='90' rx='12' fill='#E8EFF8' stroke='#1E4FA8' strokeWidth='2' /&gt;&#10;        &lt;text x='100' y='182' fill='#0E3F8C' fontFamily='Microsoft YaHei' fontSize='22' fontWeight='bold' textAnchor='middle'&gt;浏览器看板&lt;/text&gt;&#10;        &lt;text x='100' y='212' fill='#3D7BD9' fontFamily='Microsoft YaHei' fontSize='18' textAnchor='middle'&gt;ECharts 5.5&lt;/text&gt;&#10;        &lt;line x1='188' y1='190' x2='240' y2='190' stroke='#1E4FA8' strokeWidth='2' /&gt;&#10;        &lt;polygon points='240,183 240,197 254,190' fill='#1E4FA8' /&gt;&#10;        &lt;rect x='250' y='145' width='170' height='90' rx='12' fill='#E8EFF8' stroke='#1E4FA8' strokeWidth='2' /&gt;&#10;        &lt;text x='335' y='182' fill='#0E3F8C' fontFamily='Microsoft YaHei' fontSize='22' fontWeight='bold' textAnchor='middle'&gt;Spring Boot 3.2&lt;/text&gt;&#10;        &lt;text x='335' y='212' fill='#3D7BD9' fontFamily='Microsoft YaHei' fontSize='18' textAnchor='middle'&gt;REST API&lt;/text&gt;&#10;        &lt;line x1='428' y1='190' x2='470' y2='190' stroke='#1E4FA8' strokeWidth='2' /&gt;&#10;        &lt;polygon points='470,183 470,197 484,190' fill='#1E4FA8' /&gt;&#10;        &lt;rect x='480' y='120' width='170' height='140' rx='12' fill='#0E3F8C' stroke='#0E3F8C' strokeWidth='2' /&gt;&#10;        &lt;text x='565' y='168' fill='#FFFFFF' fontFamily='Microsoft YaHei' fontSize='22' fontWeight='bold' textAnchor='middle'&gt;H2 真实库&lt;/text&gt;&#10;        &lt;text x='565' y='200' fill='#C9DAF2' fontFamily='Microsoft YaHei' fontSize='17' textAnchor='middle'&gt;Olist 数据集&lt;/text&gt;&#10;        &lt;text x='565' y='228' fill='#FFC107' fontFamily='Microsoft YaHei' fontSize='17' fontWeight='bold' textAnchor='middle'&gt;约 10 万订单&lt;/text&gt;&#10;        &lt;text x='214' y='178' fill='#8B97A8' fontFamily='Microsoft YaHei' fontSize='14' textAnchor='middle'&gt;fetch / X-Token&lt;/text&gt;&#10;        &lt;text x='449' y='178' fill='#8B97A8' fontFamily='Microsoft YaHei' fontSize='14' textAnchor='middle'&gt;JPA / CSV&lt;/text&gt;&#10;      &lt;/svg&gt;&#10;    &lt;/Box&gt;&#10;    &lt;Box style={{ width:'42%', display:'flex', flexDirection:'column', gap:12 }}&gt;&#10;      {[['前端','原生 HTML/CSS/JS + ECharts 5.5'],['后端','Spring Boot 3.2 + Spring Data JPA'],['数据','H2 文件库，启动自举导入 Olist CSV'],['鉴权','BCrypt + Token（轻量，无 Spring Security）'],['诊断','阈值规则引擎，配置文件即可调参']].map((it,i)=&gt;(&#10;        &lt;Box key={i} style={{ background:'#F0F5FC', borderRadius:10, padding:'13px 16px', display:'flex', flexDirection:'row', gap:12, alignItems:'center' }}&gt;&#10;          &lt;Text style={{ fontSize:15, color:'#FFFFFF', background:'#1E4FA8', borderRadius:6, padding:'6px 12px', fontWeight:'bold' }}&gt;{it[0]}&lt;/Text&gt;&#10;          &lt;Text style={{ fontSize:18, color:'#1A2230', lineHeight:1.4 }}&gt;{it[1]}&lt;/Text&gt;&#10;        &lt;/Box&gt;&#10;      ))}&#10;      &lt;Box style={{ background:'#FFF7E0', border:'1px solid #FFE08A', borderRadius:10, padding:'13px 16px', marginTop:4 }}&gt;&#10;        &lt;Text style={{ fontSize:17, color:'#8A6D1B', lineHeight:1.5 }}&gt;课程硬约束：前端不引入 Vue/React/axios，仅用原生 fetch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19100" y="381000"/>
            <a:ext cx="1135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真实数据驱动的轻量全栈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19100" y="904875"/>
            <a:ext cx="113538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19100" y="1133475"/>
            <a:ext cx="6429375" cy="5343525"/>
          </a:xfrm>
          <a:prstGeom prst="roundRect">
            <a:avLst>
              <a:gd name="adj" fmla="val 213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66750" y="20859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数据流向</a:t>
            </a:r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2295525"/>
            <a:ext cx="5334000" cy="32385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7115175" y="1133475"/>
            <a:ext cx="4657725" cy="542925"/>
          </a:xfrm>
          <a:prstGeom prst="roundRect">
            <a:avLst>
              <a:gd name="adj" fmla="val 1754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7267575" y="1266825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267575" y="1266825"/>
            <a:ext cx="514350" cy="28575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896225" y="1257300"/>
            <a:ext cx="26574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原生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HTML/CSS/JS + ECharts 5.5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115175" y="1790700"/>
            <a:ext cx="4657725" cy="542925"/>
          </a:xfrm>
          <a:prstGeom prst="roundRect">
            <a:avLst>
              <a:gd name="adj" fmla="val 1754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7267575" y="1924050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267575" y="1924050"/>
            <a:ext cx="514350" cy="28575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后端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896225" y="1914525"/>
            <a:ext cx="28003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Spring Boot 3.2 + Spring Data JPA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115175" y="2447925"/>
            <a:ext cx="4657725" cy="542925"/>
          </a:xfrm>
          <a:prstGeom prst="roundRect">
            <a:avLst>
              <a:gd name="adj" fmla="val 1754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7267575" y="2581275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267575" y="2581275"/>
            <a:ext cx="514350" cy="28575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数据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896225" y="2571750"/>
            <a:ext cx="280987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H2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文件库，启动自举导入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Olist CSV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7115175" y="3105150"/>
            <a:ext cx="4657725" cy="542925"/>
          </a:xfrm>
          <a:prstGeom prst="roundRect">
            <a:avLst>
              <a:gd name="adj" fmla="val 1754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7267575" y="3238500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267575" y="3238500"/>
            <a:ext cx="514350" cy="28575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鉴权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896225" y="3228975"/>
            <a:ext cx="3590925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BCrypt + Token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（轻量，无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Spring Security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115175" y="3762375"/>
            <a:ext cx="4657725" cy="542925"/>
          </a:xfrm>
          <a:prstGeom prst="roundRect">
            <a:avLst>
              <a:gd name="adj" fmla="val 1754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7267575" y="3895725"/>
            <a:ext cx="514350" cy="28575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267575" y="3895725"/>
            <a:ext cx="514350" cy="285750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highlight>
                  <a:srgbClr val="1E4FA8"/>
                </a:highlight>
                <a:latin typeface="Microsoft YaHei"/>
                <a:ea typeface="Microsoft YaHei"/>
              </a:rPr>
              <a:t>诊断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896225" y="3886200"/>
            <a:ext cx="2571750" cy="2952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阈值规则引擎，配置文件即可调参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15175" y="4457700"/>
            <a:ext cx="4657725" cy="838200"/>
          </a:xfrm>
          <a:prstGeom prst="roundRect">
            <a:avLst>
              <a:gd name="adj" fmla="val 11364"/>
            </a:avLst>
          </a:prstGeom>
          <a:solidFill>
            <a:srgbClr val="FFF7E0"/>
          </a:solidFill>
          <a:ln w="12700">
            <a:solidFill>
              <a:srgbClr val="FFE08A"/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267575" y="4581525"/>
            <a:ext cx="43529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8A6D1B"/>
                </a:solidFill>
                <a:latin typeface="Microsoft YaHei"/>
                <a:ea typeface="Microsoft YaHei"/>
              </a:rPr>
              <a:t>课程硬约束：前端不引入</a:t>
            </a:r>
            <a:r>
              <a:rPr lang="en-US" sz="1275">
                <a:solidFill>
                  <a:srgbClr val="8A6D1B"/>
                </a:solidFill>
                <a:latin typeface="Microsoft YaHei"/>
                <a:ea typeface="Microsoft YaHei"/>
              </a:rPr>
              <a:t xml:space="preserve"> Vue/React/axios</a:t>
            </a:r>
            <a:r>
              <a:rPr lang="zh-CN" sz="1275">
                <a:solidFill>
                  <a:srgbClr val="8A6D1B"/>
                </a:solidFill>
                <a:latin typeface="Microsoft YaHei"/>
                <a:ea typeface="Microsoft YaHei"/>
              </a:rPr>
              <a:t>，仅用原生</a:t>
            </a:r>
            <a:r>
              <a:rPr lang="en-US" sz="1275">
                <a:solidFill>
                  <a:srgbClr val="8A6D1B"/>
                </a:solidFill>
                <a:latin typeface="Microsoft YaHei"/>
                <a:ea typeface="Microsoft YaHei"/>
              </a:rPr>
              <a:t xml:space="preserve"> fetch</a:t>
            </a:r>
            <a:r>
              <a:rPr lang="zh-CN" sz="1275">
                <a:solidFill>
                  <a:srgbClr val="8A6D1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85" name="" descr="&lt;Slide style={{ width:'1280px', height:'720px', fontFamily:'Microsoft YaHei', background:'#F7F9FC', display:'flex', flexDirection:'row' }}&gt;&#10;  &lt;Box style={{ width:'520px', height:'720px', background:'#0E3F8C', display:'flex', flexDirection:'column', justifyContent:'center', alignItems:'flex-end', padding:'0 56px' }}&gt;&#10;    &lt;Text style={{ fontSize:190, color:'#3D7BD9', fontWeight:'bold' }}&gt;03&lt;/Text&gt;&#10;  &lt;/Box&gt;&#10;  &lt;Box style={{ flex:1, height:'720px', display:'flex', flexDirection:'column', justifyContent:'center', padding:'0 64px' }}&gt;&#10;    &lt;Text style={{ fontSize:20, color:'#3D7BD9', letterSpacing:4 }}&gt;CHAPTER 03&lt;/Text&gt;&#10;    &lt;Text style={{ fontSize:44, color:'#0E3F8C', fontWeight:'bold', marginTop:14 }}&gt;核心功能与真实数据&lt;/Text&gt;&#10;    &lt;Box style={{ width:'80px', height:'4px', background:'#FFC107', marginTop:22, marginBottom:22 }} /&gt;&#10;    &lt;Text style={{ fontSize:23, color:'#4A5568', lineHeight:1.8 }}&gt;五大功能覆盖“看数—诊断—行动”，&lt;br/&gt;并用&lt;span style={{ color:'#0E3F8C', fontWeight:'bold' }}&gt;真实巴西电商数据集&lt;/span&gt;完成端到端验证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181225" y="234315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3D7BD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562600" y="22955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562600" y="2657475"/>
            <a:ext cx="601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核心功能与真实数据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5562600" y="337185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60198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五大功能覆盖“看数—诊断—行动”，</a:t>
            </a:r>
            <a:endParaRPr/>
          </a:p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并用</a:t>
            </a: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真实巴西电商数据集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完成端到端验证。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width:'1280px', height:'720px', fontFamily:'Microsoft YaHei', background:'#FFFFFF', padding:'40px 44px', display:'flex', flexDirection:'column' }}&gt;&#10;  &lt;Text style={{ fontSize:34, color:'#0E3F8C', fontWeight:'bold' }}&gt;五大功能，覆盖“看数—诊断—行动”&lt;/Text&gt;&#10;  &lt;Box style={{ width:'100%', height:'2px', background:'#D6DCE5', marginTop:14, marginBottom:22 }} /&gt;&#10;  &lt;Box style={{ flex:1, display:'flex', flexDirection:'row', gap:24 }}&gt;&#10;    &lt;Box style={{ width:'52%', display:'flex', flexDirection:'column', gap:14 }}&gt;&#10;      {[['① 真实登录鉴权','账号密码 BCrypt 校验 + Token，接口按 X-Token 隔离，数据更安全。'],['② 多店铺一键切换','用 seller_id 代理“店铺”，下拉即看单店经营视图。'],['③ 智能经营诊断','销售额环比 / 复购率 / 评分 / 延迟 / 取消率，一眼看健康度。']].map((it,i)=&gt;(&#10;        &lt;Box key={i} style={{ background:'#F0F5FC', borderRadius:10, padding:'16px 18px', borderLeft:'4px solid #1E4FA8' }}&gt;&#10;          &lt;Text style={{ fontSize:22, color:'#0E3F8C', fontWeight:'bold' }}&gt;{it[0]}&lt;/Text&gt;&#10;          &lt;Text style={{ fontSize:18, color:'#4A5568', marginTop:6, lineHeight:1.6 }}&gt;{it[1]}&lt;/Text&gt;&#10;        &lt;/Box&gt;&#10;      ))}&#10;    &lt;/Box&gt;&#10;    &lt;Box style={{ width:'48%', display:'flex', flexDirection:'column', gap:14 }}&gt;&#10;      {[['④ 补货信号（代理口径）','按品类增长 + 评分 + 占比，给出“重点投入 / 促销去化”建议。'],['⑤ 风险预警','品类骤降、评分下滑、支付方式异常，自动标红提醒。']].map((it,i)=&gt;(&#10;        &lt;Box key={i} style={{ background:'#F0F5FC', borderRadius:10, padding:'16px 18px', borderLeft:'4px solid #3D7BD9' }}&gt;&#10;          &lt;Text style={{ fontSize:22, color:'#0E3F8C', fontWeight:'bold' }}&gt;{it[0]}&lt;/Text&gt;&#10;          &lt;Text style={{ fontSize:18, color:'#4A5568', marginTop:6, lineHeight:1.6 }}&gt;{it[1]}&lt;/Text&gt;&#10;        &lt;/Box&gt;&#10;      ))}&#10;      &lt;Box style={{ background:'#0E3F8C', borderRadius:10, padding:'15px 18px' }}&gt;&#10;        &lt;Text style={{ fontSize:17, color:'#FFE08A', fontWeight:'bold', lineHeight:1.5 }}&gt;诚实标注：补货信号“基于销售趋势推测，非实时库存”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381000"/>
            <a:ext cx="1135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五大功能，覆盖“看数—诊断—行动”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19100" y="904875"/>
            <a:ext cx="113538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457200" y="1133475"/>
            <a:ext cx="5781675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457200" y="1133475"/>
            <a:ext cx="5781675" cy="952500"/>
          </a:xfrm>
          <a:custGeom>
            <a:pathLst>
              <a:path w="607" h="10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4"/>
                </a:lnTo>
                <a:cubicBezTo>
                  <a:pt x="4" y="97"/>
                  <a:pt x="6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28650" y="1285875"/>
            <a:ext cx="5400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真实登录鉴权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28650" y="1600200"/>
            <a:ext cx="54006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账号密码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BCrypt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Token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，接口按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X-Token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隔离，数据更安全。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57200" y="2219325"/>
            <a:ext cx="5781675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457200" y="2219325"/>
            <a:ext cx="5781675" cy="952500"/>
          </a:xfrm>
          <a:custGeom>
            <a:pathLst>
              <a:path w="607" h="10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4"/>
                </a:lnTo>
                <a:cubicBezTo>
                  <a:pt x="4" y="97"/>
                  <a:pt x="6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28650" y="2371725"/>
            <a:ext cx="5400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多店铺一键切换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28650" y="2686050"/>
            <a:ext cx="54006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seller_id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代理“店铺”，下拉即看单店经营视图。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57200" y="3305175"/>
            <a:ext cx="5781675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457200" y="3305175"/>
            <a:ext cx="5781675" cy="952500"/>
          </a:xfrm>
          <a:custGeom>
            <a:pathLst>
              <a:path w="607" h="10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4"/>
                </a:lnTo>
                <a:cubicBezTo>
                  <a:pt x="4" y="97"/>
                  <a:pt x="6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28650" y="3457575"/>
            <a:ext cx="5400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智能经营诊断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28650" y="3771900"/>
            <a:ext cx="54006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销售额环比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复购率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评分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延迟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取消率，一眼看健康度。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467475" y="1133475"/>
            <a:ext cx="5343525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467475" y="1133475"/>
            <a:ext cx="5343525" cy="952500"/>
          </a:xfrm>
          <a:custGeom>
            <a:pathLst>
              <a:path w="561" h="10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4"/>
                </a:lnTo>
                <a:cubicBezTo>
                  <a:pt x="4" y="97"/>
                  <a:pt x="6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638925" y="1285875"/>
            <a:ext cx="4962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补货信号（代理口径）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638925" y="1600200"/>
            <a:ext cx="49625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按品类增长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评分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占比，给出“重点投入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促销去化”建议。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467475" y="2219325"/>
            <a:ext cx="5343525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467475" y="2219325"/>
            <a:ext cx="5343525" cy="952500"/>
          </a:xfrm>
          <a:custGeom>
            <a:pathLst>
              <a:path w="561" h="10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94"/>
                </a:lnTo>
                <a:cubicBezTo>
                  <a:pt x="4" y="97"/>
                  <a:pt x="6" y="99"/>
                  <a:pt x="9" y="100"/>
                </a:cubicBezTo>
                <a:cubicBezTo>
                  <a:pt x="4" y="99"/>
                  <a:pt x="0" y="95"/>
                  <a:pt x="0" y="9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638925" y="2371725"/>
            <a:ext cx="4962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风险预警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638925" y="2686050"/>
            <a:ext cx="49625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品类骤降、评分下滑、支付方式异常，自动标红提醒。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429375" y="3305175"/>
            <a:ext cx="5343525" cy="581025"/>
          </a:xfrm>
          <a:prstGeom prst="roundRect">
            <a:avLst>
              <a:gd name="adj" fmla="val 163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600825" y="3448050"/>
            <a:ext cx="50006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FE08A"/>
                </a:solidFill>
                <a:latin typeface="Microsoft YaHei"/>
                <a:ea typeface="Microsoft YaHei"/>
              </a:rPr>
              <a:t>诚实标注：补货信号“基于销售趋势推测，非实时库存”。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7" name="" descr="&lt;Slide style={{ width:'1280px', height:'720px', fontFamily:'Microsoft YaHei', background:'#FFFFFF', padding:'40px 44px', display:'flex', flexDirection:'column' }}&gt;&#10;  &lt;Text style={{ fontSize:34, color:'#0E3F8C', fontWeight:'bold' }}&gt;真实数据，并诚实标注口径&lt;/Text&gt;&#10;  &lt;Box style={{ width:'100%', height:'2px', background:'#D6DCE5', marginTop:14, marginBottom:26 }} /&gt;&#10;  &lt;Box style={{ display:'flex', flexDirection:'row', gap:22, justifyContent:'space-between' }}&gt;&#10;    {[['10万+','真实订单（Olist 公开数据集）'],['2016–2018','约两年销售时间跨度'],['9 张','原始 CSV 表自举导入']].map((it,i)=&gt;(&#10;      &lt;Box key={i} style={{ flex:1, background:'#F7F9FC', borderRadius:12, border:'1px solid #E5E7EB', padding:'26px 18px', display:'flex', flexDirection:'column', alignItems:'center' }}&gt;&#10;        &lt;Text style={{ fontSize:64, color:'#1E4FA8', fontWeight:'bold' }}&gt;{it[0]}&lt;/Text&gt;&#10;        &lt;Text style={{ fontSize:18, color:'#4A5568', marginTop:12, textAlign:'center', lineHeight:1.5 }}&gt;{it[1]}&lt;/Text&gt;&#10;      &lt;/Box&gt;&#10;    ))}&#10;  &lt;/Box&gt;&#10;  &lt;Box style={{ flex:1, display:'flex', flexDirection:'row', gap:22, marginTop:22 }}&gt;&#10;    &lt;Box style={{ width:'62%', background:'#F0F5FC', borderRadius:12, padding:'22px 24px', display:'flex', flexDirection:'column', justifyContent:'center' }}&gt;&#10;      &lt;Text style={{ fontSize:22, color:'#0E3F8C', fontWeight:'bold' }}&gt;结论：用真实业务数据，而非造数演示&lt;/Text&gt;&#10;      &lt;Text style={{ fontSize:19, color:'#4A5568', marginTop:12, lineHeight:1.7 }}&gt;所有看板指标、诊断结论与补货建议，均来自约 10 万笔真实订单的端到端计算，保证演示可复现、可审计。&lt;/Text&gt;&#10;    &lt;/Box&gt;&#10;    &lt;Box style={{ width:'38%', background:'#0E3F8C', borderRadius:12, padding:'22px 24px', display:'flex', flexDirection:'column', justifyContent:'center' }}&gt;&#10;      &lt;Text style={{ fontSize:20, color:'#FFE08A', fontWeight:'bold', lineHeight:1.5 }}&gt;诚实口径 = 答辩加分项&lt;/Text&gt;&#10;      &lt;Text style={{ fontSize:17, color:'#D6E4F7', marginTop:10, lineHeight:1.6 }}&gt;补货信号明确标注“推测口径，非实时库存”，体现学术诚信与工程严谨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19100" y="381000"/>
            <a:ext cx="1135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真实数据，并诚实标注口径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19100" y="904875"/>
            <a:ext cx="113538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419100" y="1171575"/>
            <a:ext cx="3648075" cy="2390775"/>
          </a:xfrm>
          <a:prstGeom prst="roundRect">
            <a:avLst>
              <a:gd name="adj" fmla="val 47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333500" y="1419225"/>
            <a:ext cx="1828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r>
              <a:rPr lang="zh-CN" sz="4800" b="1">
                <a:solidFill>
                  <a:srgbClr val="1E4FA8"/>
                </a:solidFill>
                <a:latin typeface="Microsoft YaHei"/>
                <a:ea typeface="Microsoft YaHei"/>
              </a:rPr>
              <a:t>万</a:t>
            </a: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5850" y="2266950"/>
            <a:ext cx="2314575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真实订单（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Olist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公开数据集）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276725" y="1171575"/>
            <a:ext cx="3638550" cy="2390775"/>
          </a:xfrm>
          <a:prstGeom prst="roundRect">
            <a:avLst>
              <a:gd name="adj" fmla="val 47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448175" y="1419225"/>
            <a:ext cx="32956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>2016–2018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24475" y="3000375"/>
            <a:ext cx="154305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约两年销售时间跨度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124825" y="1171575"/>
            <a:ext cx="3648075" cy="2390775"/>
          </a:xfrm>
          <a:prstGeom prst="roundRect">
            <a:avLst>
              <a:gd name="adj" fmla="val 47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363075" y="1419225"/>
            <a:ext cx="11715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4800" b="1">
                <a:solidFill>
                  <a:srgbClr val="1E4FA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134475" y="2266950"/>
            <a:ext cx="1638300" cy="31432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原始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CSV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表自举导入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19100" y="3771900"/>
            <a:ext cx="6905625" cy="2705100"/>
          </a:xfrm>
          <a:prstGeom prst="roundRect">
            <a:avLst>
              <a:gd name="adj" fmla="val 422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7700" y="4572000"/>
            <a:ext cx="644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结论：用真实业务数据，而非造数演示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7700" y="4943475"/>
            <a:ext cx="644842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所有看板指标、诊断结论与补货建议，均来自约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万笔真实订单的端到端计算，保证演示可复现、可审计。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7534275" y="3771900"/>
            <a:ext cx="4238625" cy="2705100"/>
          </a:xfrm>
          <a:prstGeom prst="roundRect">
            <a:avLst>
              <a:gd name="adj" fmla="val 422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762875" y="4591050"/>
            <a:ext cx="37814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E08A"/>
                </a:solidFill>
                <a:latin typeface="Microsoft YaHei"/>
                <a:ea typeface="Microsoft YaHei"/>
              </a:rPr>
              <a:t>诚实口径</a:t>
            </a:r>
            <a:r>
              <a:rPr lang="en-US" sz="1500" b="1">
                <a:solidFill>
                  <a:srgbClr val="FFE08A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500" b="1">
                <a:solidFill>
                  <a:srgbClr val="FFE08A"/>
                </a:solidFill>
                <a:latin typeface="Microsoft YaHei"/>
                <a:ea typeface="Microsoft YaHei"/>
              </a:rPr>
              <a:t>答辩加分项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762875" y="5029200"/>
            <a:ext cx="37814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D6E4F7"/>
                </a:solidFill>
                <a:latin typeface="Microsoft YaHei"/>
                <a:ea typeface="Microsoft YaHei"/>
              </a:rPr>
              <a:t>补货信号明确标注“推测口径，非实时库存”，体现学术诚信与工程严谨。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style={{ width:'1280px', height:'720px', fontFamily:'Microsoft YaHei', background:'#F7F9FC', display:'flex', flexDirection:'row' }}&gt;&#10;  &lt;Box style={{ width:'520px', height:'720px', background:'#0E3F8C', display:'flex', flexDirection:'column', justifyContent:'center', alignItems:'flex-end', padding:'0 56px' }}&gt;&#10;    &lt;Text style={{ fontSize:190, color:'#3D7BD9', fontWeight:'bold' }}&gt;04&lt;/Text&gt;&#10;  &lt;/Box&gt;&#10;  &lt;Box style={{ flex:1, height:'720px', display:'flex', flexDirection:'column', justifyContent:'center', padding:'0 64px' }}&gt;&#10;    &lt;Text style={{ fontSize:20, color:'#3D7BD9', letterSpacing:4 }}&gt;CHAPTER 04&lt;/Text&gt;&#10;    &lt;Text style={{ fontSize:44, color:'#0E3F8C', fontWeight:'bold', marginTop:14 }}&gt;工程化流程与答辩价值&lt;/Text&gt;&#10;    &lt;Box style={{ width:'80px', height:'4px', background:'#FFC107', marginTop:22, marginBottom:22 }} /&gt;&#10;    &lt;Text style={{ fontSize:23, color:'#4A5568', lineHeight:1.8 }}&gt;用团队流水线把课程作业打磨成&lt;br/&gt;&lt;span style={{ color:'#0E3F8C', fontWeight:'bold' }}&gt;“可发行”的产品原型&lt;/span&gt;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181225" y="234315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3D7BD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562600" y="229552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3D7BD9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562600" y="2657475"/>
            <a:ext cx="6019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E3F8C"/>
                </a:solidFill>
                <a:latin typeface="Microsoft YaHei"/>
                <a:ea typeface="Microsoft YaHei"/>
              </a:rPr>
              <a:t>工程化流程与答辩价值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562600" y="3371850"/>
            <a:ext cx="762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6019800" cy="9525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用团队流水线把课程作业打磨成</a:t>
            </a:r>
            <a:endParaRPr/>
          </a:p>
          <a:p>
            <a:pPr>
              <a:lnSpc>
                <a:spcPct val="18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“可发行”的产品原型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style={{ width:'1280px', height:'720px', fontFamily:'Microsoft YaHei', background:'#FFFFFF', padding:'40px 44px', display:'flex', flexDirection:'column' }}&gt;&#10;  &lt;Text style={{ fontSize:34, color:'#0E3F8C', fontWeight:'bold' }}&gt;从课程作业到可发行的产品&lt;/Text&gt;&#10;  &lt;Box style={{ width:'100%', height:'2px', background:'#D6DCE5', marginTop:14, marginBottom:22 }} /&gt;&#10;  &lt;Box style={{ display:'flex', flexDirection:'row', alignItems:'stretch', gap:10 }}&gt;&#10;    {[['产品经理','许清楚','需求与痛点定义'],['架构师','高见远','技术方案与分层'],['工程师','寇豆码','后端 + 前端实现'],['QA','严过关','回归与边界验证']].map((it,i)=&gt;(&#10;      &lt;Box key={i} style={{ flex:1, background:'#F0F5FC', borderRadius:10, padding:'16px 14px', borderTop:'4px solid #1E4FA8', display:'flex', flexDirection:'column', alignItems:'center' }}&gt;&#10;        &lt;Text style={{ fontSize:16, color:'#3D7BD9', fontWeight:'bold' }}&gt;{it[0]}&lt;/Text&gt;&#10;        &lt;Text style={{ fontSize:24, color:'#0E3F8C', fontWeight:'bold', marginTop:8 }}&gt;{it[1]}&lt;/Text&gt;&#10;        &lt;Text style={{ fontSize:15, color:'#4A5568', marginTop:8, textAlign:'center', lineHeight:1.4 }}&gt;{it[2]}&lt;/Text&gt;&#10;      &lt;/Box&gt;&#10;    ))}&#10;    {[0,1,2].map((k)=&gt;(&lt;Box key={k} style={{ display:'flex', alignItems:'center', justifyContent:'center', width:'34px' }}&gt;&lt;Text style={{ fontSize:26, color:'#1E4FA8', fontWeight:'bold' }}&gt;→&lt;/Text&gt;&lt;/Box&gt;))}&#10;  &lt;/Box&gt;&#10;  &lt;Box style={{ flex:1, display:'flex', flexDirection:'row', gap:20, marginTop:22 }}&gt;&#10;    &lt;Box style={{ flex:1, background:'#F7F9FC', borderRadius:12, padding:'20px 22px' }}&gt;&#10;      &lt;Text style={{ fontSize:21, color:'#0E3F8C', fontWeight:'bold' }}&gt;课程价值&lt;/Text&gt;&#10;      &lt;Box style={{ marginTop:12, display:'flex', flexDirection:'column', gap:10 }}&gt;&#10;        &lt;Text style={{ fontSize:18, color:'#1A2230', lineHeight:1.5 }}&gt;• 真数据：Olist 10 万订单端到端验证，可复现&lt;/Text&gt;&#10;        &lt;Text style={{ fontSize:18, color:'#1A2230', lineHeight:1.5 }}&gt;• 真登录：账号隔离，安全可信&lt;/Text&gt;&#10;        &lt;Text style={{ fontSize:18, color:'#1A2230', lineHeight:1.5 }}&gt;• 诚实标注：代理库存口径，体现学术诚信&lt;/Text&gt;&#10;      &lt;/Box&gt;&#10;    &lt;/Box&gt;&#10;    &lt;Box style={{ flex:1, background:'#0E3F8C', borderRadius:12, padding:'20px 22px', display:'flex', flexDirection:'column', justifyContent:'center' }}&gt;&#10;      &lt;Text style={{ fontSize:21, color:'#FFE08A', fontWeight:'bold' }}&gt;致谢&lt;/Text&gt;&#10;      &lt;Text style={{ fontSize:17, color:'#D6E4F7', marginTop:12, lineHeight:1.7 }}&gt;感谢课程老师与评审的指导，&lt;br/&gt;感谢 Olist 开源电商数据集提供的真实业务样本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19100" y="381000"/>
            <a:ext cx="11353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从课程作业到可发行的产品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419100" y="904875"/>
            <a:ext cx="113538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19100" y="1171575"/>
            <a:ext cx="2457450" cy="1209675"/>
          </a:xfrm>
          <a:prstGeom prst="roundRect">
            <a:avLst>
              <a:gd name="adj" fmla="val 78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419100" y="1171575"/>
            <a:ext cx="2457450" cy="1209675"/>
          </a:xfrm>
          <a:custGeom>
            <a:pathLst>
              <a:path w="258" h="127">
                <a:moveTo>
                  <a:pt x="248" y="0"/>
                </a:moveTo>
                <a:cubicBezTo>
                  <a:pt x="253" y="0"/>
                  <a:pt x="257" y="4"/>
                  <a:pt x="258" y="8"/>
                </a:cubicBezTo>
                <a:cubicBezTo>
                  <a:pt x="257" y="6"/>
                  <a:pt x="255" y="4"/>
                  <a:pt x="25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4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343025" y="13239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产品经理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304925" y="15906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许清楚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52525" y="1943100"/>
            <a:ext cx="10001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需求与痛点定义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2971800" y="1171575"/>
            <a:ext cx="2447925" cy="1209675"/>
          </a:xfrm>
          <a:prstGeom prst="roundRect">
            <a:avLst>
              <a:gd name="adj" fmla="val 78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2971800" y="1171575"/>
            <a:ext cx="2447925" cy="1209675"/>
          </a:xfrm>
          <a:custGeom>
            <a:pathLst>
              <a:path w="257" h="127">
                <a:moveTo>
                  <a:pt x="247" y="0"/>
                </a:moveTo>
                <a:cubicBezTo>
                  <a:pt x="252" y="0"/>
                  <a:pt x="256" y="4"/>
                  <a:pt x="257" y="8"/>
                </a:cubicBezTo>
                <a:cubicBezTo>
                  <a:pt x="256" y="6"/>
                  <a:pt x="254" y="4"/>
                  <a:pt x="251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47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971925" y="132397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架构师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857625" y="15906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高见远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695700" y="1943100"/>
            <a:ext cx="10001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技术方案与分层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514975" y="1171575"/>
            <a:ext cx="2457450" cy="1209675"/>
          </a:xfrm>
          <a:prstGeom prst="roundRect">
            <a:avLst>
              <a:gd name="adj" fmla="val 78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514975" y="1171575"/>
            <a:ext cx="2457450" cy="1209675"/>
          </a:xfrm>
          <a:custGeom>
            <a:pathLst>
              <a:path w="258" h="127">
                <a:moveTo>
                  <a:pt x="248" y="0"/>
                </a:moveTo>
                <a:cubicBezTo>
                  <a:pt x="253" y="0"/>
                  <a:pt x="257" y="4"/>
                  <a:pt x="258" y="8"/>
                </a:cubicBezTo>
                <a:cubicBezTo>
                  <a:pt x="257" y="6"/>
                  <a:pt x="255" y="4"/>
                  <a:pt x="25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48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515100" y="132397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工程师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400800" y="15906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寇豆码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219825" y="1943100"/>
            <a:ext cx="105727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后端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前端实现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67675" y="1171575"/>
            <a:ext cx="2447925" cy="1209675"/>
          </a:xfrm>
          <a:prstGeom prst="roundRect">
            <a:avLst>
              <a:gd name="adj" fmla="val 78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8067675" y="1171575"/>
            <a:ext cx="2447925" cy="1209675"/>
          </a:xfrm>
          <a:custGeom>
            <a:pathLst>
              <a:path w="257" h="127">
                <a:moveTo>
                  <a:pt x="247" y="0"/>
                </a:moveTo>
                <a:cubicBezTo>
                  <a:pt x="252" y="0"/>
                  <a:pt x="256" y="4"/>
                  <a:pt x="257" y="8"/>
                </a:cubicBezTo>
                <a:cubicBezTo>
                  <a:pt x="256" y="6"/>
                  <a:pt x="254" y="4"/>
                  <a:pt x="251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47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172575" y="1323975"/>
            <a:ext cx="238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QA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953500" y="1590675"/>
            <a:ext cx="685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严过关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791575" y="1943100"/>
            <a:ext cx="100012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回归与边界验证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0648950" y="15906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068050" y="15906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487150" y="15906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19100" y="2552700"/>
            <a:ext cx="5581650" cy="3924300"/>
          </a:xfrm>
          <a:prstGeom prst="roundRect">
            <a:avLst>
              <a:gd name="adj" fmla="val 291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28650" y="2743200"/>
            <a:ext cx="5162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课程价值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28650" y="3105150"/>
            <a:ext cx="51625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•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真数据：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Olist 10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万订单端到端验证，可复现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28650" y="3514725"/>
            <a:ext cx="51625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•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真登录：账号隔离，安全可信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8650" y="3924300"/>
            <a:ext cx="51625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•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诚实标注：代理库存口径，体现学术诚信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191250" y="2552700"/>
            <a:ext cx="5581650" cy="3924300"/>
          </a:xfrm>
          <a:prstGeom prst="roundRect">
            <a:avLst>
              <a:gd name="adj" fmla="val 291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400800" y="4000500"/>
            <a:ext cx="5162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E08A"/>
                </a:solidFill>
                <a:latin typeface="Microsoft YaHei"/>
                <a:ea typeface="Microsoft YaHei"/>
              </a:rPr>
              <a:t>致谢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400800" y="4362450"/>
            <a:ext cx="516255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D6E4F7"/>
                </a:solidFill>
                <a:latin typeface="Microsoft YaHei"/>
                <a:ea typeface="Microsoft YaHei"/>
              </a:rPr>
              <a:t>感谢课程老师与评审的指导，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D6E4F7"/>
                </a:solidFill>
                <a:latin typeface="Microsoft YaHei"/>
                <a:ea typeface="Microsoft YaHei"/>
              </a:rPr>
              <a:t>感谢</a:t>
            </a:r>
            <a:r>
              <a:rPr lang="en-US" sz="1275">
                <a:solidFill>
                  <a:srgbClr val="D6E4F7"/>
                </a:solidFill>
                <a:latin typeface="Microsoft YaHei"/>
                <a:ea typeface="Microsoft YaHei"/>
              </a:rPr>
              <a:t xml:space="preserve"> Olist </a:t>
            </a:r>
            <a:r>
              <a:rPr lang="zh-CN" sz="1275">
                <a:solidFill>
                  <a:srgbClr val="D6E4F7"/>
                </a:solidFill>
                <a:latin typeface="Microsoft YaHei"/>
                <a:ea typeface="Microsoft YaHei"/>
              </a:rPr>
              <a:t>开源电商数据集提供的真实业务样本。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2026-10-24T14:48:18Z</dcterms:created>
  <dcterms:modified xsi:type="dcterms:W3CDTF">2026-10-24T14:48:18Z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{"AIGC":{"Label":"1","ContentProducer":"00119111010856365494821B355","ProduceID":"01a16c5e1a817bcba3b132c18e7c61b0","ReservedCode1":"","ContentPropagator":"00119111010856365494821B355","PropagateID":"01a16c5e1a817bcba3b132c18e7c61b0","ReservedCode2":""}}</vt:lpwstr>
  </property>
</Properties>
</file>